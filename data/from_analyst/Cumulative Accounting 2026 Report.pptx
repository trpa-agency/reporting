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58" r:id="rId4"/>
    <p:sldId id="267" r:id="rId5"/>
    <p:sldId id="273" r:id="rId6"/>
    <p:sldId id="269" r:id="rId7"/>
    <p:sldId id="270" r:id="rId8"/>
    <p:sldId id="271" r:id="rId9"/>
    <p:sldId id="268" r:id="rId10"/>
    <p:sldId id="27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960C"/>
    <a:srgbClr val="20808D"/>
    <a:srgbClr val="FFFFFF"/>
    <a:srgbClr val="F7F6F2"/>
    <a:srgbClr val="8E9A61"/>
    <a:srgbClr val="4D6E74"/>
    <a:srgbClr val="AE593F"/>
    <a:srgbClr val="69AAB2"/>
    <a:srgbClr val="F1F7F8"/>
    <a:srgbClr val="C8C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88292-763E-4D29-8D14-8784422E44C6}" v="705" dt="2026-04-25T02:27:19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961" autoAdjust="0"/>
  </p:normalViewPr>
  <p:slideViewPr>
    <p:cSldViewPr snapToGrid="0" snapToObjects="1">
      <p:cViewPr varScale="1">
        <p:scale>
          <a:sx n="115" d="100"/>
          <a:sy n="115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E7C262"/>
            </a:solidFill>
          </c:spPr>
          <c:dPt>
            <c:idx val="0"/>
            <c:bubble3D val="0"/>
            <c:spPr>
              <a:solidFill>
                <a:srgbClr val="5C90C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AF-4C10-A047-D185DE6E6A9C}"/>
              </c:ext>
            </c:extLst>
          </c:dPt>
          <c:dPt>
            <c:idx val="1"/>
            <c:bubble3D val="0"/>
            <c:spPr>
              <a:solidFill>
                <a:srgbClr val="F49F5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AF-4C10-A047-D185DE6E6A9C}"/>
              </c:ext>
            </c:extLst>
          </c:dPt>
          <c:dPt>
            <c:idx val="2"/>
            <c:bubble3D val="0"/>
            <c:spPr>
              <a:solidFill>
                <a:srgbClr val="A4B16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7AF-4C10-A047-D185DE6E6A9C}"/>
              </c:ext>
            </c:extLst>
          </c:dPt>
          <c:dPt>
            <c:idx val="3"/>
            <c:bubble3D val="0"/>
            <c:spPr>
              <a:solidFill>
                <a:srgbClr val="E7C26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7AF-4C10-A047-D185DE6E6A9C}"/>
              </c:ext>
            </c:extLst>
          </c:dPt>
          <c:dPt>
            <c:idx val="4"/>
            <c:bubble3D val="0"/>
            <c:spPr>
              <a:solidFill>
                <a:srgbClr val="A281B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7AF-4C10-A047-D185DE6E6A9C}"/>
              </c:ext>
            </c:extLst>
          </c:dPt>
          <c:dLbls>
            <c:dLbl>
              <c:idx val="0"/>
              <c:layout>
                <c:manualLayout>
                  <c:x val="-0.16847178477690289"/>
                  <c:y val="5.706810095676611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AF-4C10-A047-D185DE6E6A9C}"/>
                </c:ext>
              </c:extLst>
            </c:dLbl>
            <c:dLbl>
              <c:idx val="1"/>
              <c:layout>
                <c:manualLayout>
                  <c:x val="-0.22083333333333333"/>
                  <c:y val="-0.1553349080462331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bg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458333333333333"/>
                      <c:h val="0.314637746752778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7AF-4C10-A047-D185DE6E6A9C}"/>
                </c:ext>
              </c:extLst>
            </c:dLbl>
            <c:dLbl>
              <c:idx val="3"/>
              <c:layout>
                <c:manualLayout>
                  <c:x val="0.1276476377952756"/>
                  <c:y val="0.1806259766440125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AF-4C10-A047-D185DE6E6A9C}"/>
                </c:ext>
              </c:extLst>
            </c:dLbl>
            <c:dLbl>
              <c:idx val="4"/>
              <c:layout>
                <c:manualLayout>
                  <c:x val="-0.13467016622922134"/>
                  <c:y val="0.1647096929309845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AF-4C10-A047-D185DE6E6A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Sheet1!$D$7:$D$11</c:f>
              <c:strCache>
                <c:ptCount val="5"/>
                <c:pt idx="0">
                  <c:v>Douglas </c:v>
                </c:pt>
                <c:pt idx="1">
                  <c:v>South Lake Tahoe</c:v>
                </c:pt>
                <c:pt idx="2">
                  <c:v>El Dorado</c:v>
                </c:pt>
                <c:pt idx="3">
                  <c:v>Placer </c:v>
                </c:pt>
                <c:pt idx="4">
                  <c:v>Washoe </c:v>
                </c:pt>
              </c:strCache>
            </c:strRef>
          </c:cat>
          <c:val>
            <c:numRef>
              <c:f>Sheet1!$E$7:$E$11</c:f>
              <c:numCache>
                <c:formatCode>0%</c:formatCode>
                <c:ptCount val="5"/>
                <c:pt idx="0">
                  <c:v>9.6268793733042285E-2</c:v>
                </c:pt>
                <c:pt idx="1">
                  <c:v>0.31446989942675291</c:v>
                </c:pt>
                <c:pt idx="2">
                  <c:v>0.18574430322936003</c:v>
                </c:pt>
                <c:pt idx="3">
                  <c:v>0.24109018951835004</c:v>
                </c:pt>
                <c:pt idx="4">
                  <c:v>0.1623452130806422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7AF-4C10-A047-D185DE6E6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59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A281BE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C90C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88-46BD-934F-59D68292C301}"/>
              </c:ext>
            </c:extLst>
          </c:dPt>
          <c:dPt>
            <c:idx val="1"/>
            <c:invertIfNegative val="0"/>
            <c:bubble3D val="0"/>
            <c:spPr>
              <a:solidFill>
                <a:srgbClr val="F49F5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88-46BD-934F-59D68292C301}"/>
              </c:ext>
            </c:extLst>
          </c:dPt>
          <c:dPt>
            <c:idx val="2"/>
            <c:invertIfNegative val="0"/>
            <c:bubble3D val="0"/>
            <c:spPr>
              <a:solidFill>
                <a:srgbClr val="A4B16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988-46BD-934F-59D68292C301}"/>
              </c:ext>
            </c:extLst>
          </c:dPt>
          <c:dPt>
            <c:idx val="3"/>
            <c:invertIfNegative val="0"/>
            <c:bubble3D val="0"/>
            <c:spPr>
              <a:solidFill>
                <a:srgbClr val="E7C26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988-46BD-934F-59D68292C301}"/>
              </c:ext>
            </c:extLst>
          </c:dPt>
          <c:dPt>
            <c:idx val="4"/>
            <c:invertIfNegative val="0"/>
            <c:bubble3D val="0"/>
            <c:spPr>
              <a:solidFill>
                <a:srgbClr val="A281B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988-46BD-934F-59D68292C301}"/>
              </c:ext>
            </c:extLst>
          </c:dPt>
          <c:dPt>
            <c:idx val="5"/>
            <c:invertIfNegative val="0"/>
            <c:bubble3D val="0"/>
            <c:spPr>
              <a:solidFill>
                <a:srgbClr val="004D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988-46BD-934F-59D68292C3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Sheet1!$D$16:$D$21</c:f>
              <c:strCache>
                <c:ptCount val="6"/>
                <c:pt idx="0">
                  <c:v>Douglas</c:v>
                </c:pt>
                <c:pt idx="1">
                  <c:v>South Lake Tahoe</c:v>
                </c:pt>
                <c:pt idx="2">
                  <c:v>El Dorado</c:v>
                </c:pt>
                <c:pt idx="3">
                  <c:v>Placer</c:v>
                </c:pt>
                <c:pt idx="4">
                  <c:v>Washoe</c:v>
                </c:pt>
                <c:pt idx="5">
                  <c:v>TRPA</c:v>
                </c:pt>
              </c:strCache>
            </c:strRef>
          </c:cat>
          <c:val>
            <c:numRef>
              <c:f>Sheet1!$E$16:$E$21</c:f>
              <c:numCache>
                <c:formatCode>General</c:formatCode>
                <c:ptCount val="6"/>
                <c:pt idx="0">
                  <c:v>93</c:v>
                </c:pt>
                <c:pt idx="1">
                  <c:v>186</c:v>
                </c:pt>
                <c:pt idx="2">
                  <c:v>98</c:v>
                </c:pt>
                <c:pt idx="3">
                  <c:v>349</c:v>
                </c:pt>
                <c:pt idx="4">
                  <c:v>135</c:v>
                </c:pt>
                <c:pt idx="5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988-46BD-934F-59D68292C3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84263488"/>
        <c:axId val="1384265888"/>
      </c:barChart>
      <c:catAx>
        <c:axId val="1384263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265888"/>
        <c:crosses val="autoZero"/>
        <c:auto val="1"/>
        <c:lblAlgn val="ctr"/>
        <c:lblOffset val="100"/>
        <c:noMultiLvlLbl val="0"/>
      </c:catAx>
      <c:valAx>
        <c:axId val="138426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263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84678724180493"/>
          <c:y val="3.4293695925138111E-2"/>
          <c:w val="0.67211000603341853"/>
          <c:h val="0.7937056216376774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Constructed</c:v>
                </c:pt>
              </c:strCache>
            </c:strRef>
          </c:tx>
          <c:spPr>
            <a:solidFill>
              <a:srgbClr val="20808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78%</a:t>
                    </a:r>
                  </a:p>
                  <a:p>
                    <a:fld id="{0BCBCF3F-3F4B-4B2A-A57D-554FA674EDFE}" type="VALUE">
                      <a:rPr lang="en-US" smtClean="0"/>
                      <a:pPr/>
                      <a:t>[VALUE]</a:t>
                    </a:fld>
                    <a:r>
                      <a:rPr lang="en-US" baseline="0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BF82-4EC4-B9E1-EEDEC61DD8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37%</a:t>
                    </a:r>
                  </a:p>
                  <a:p>
                    <a:fld id="{EEBB5560-EC4A-49A0-B8BA-D047E5279620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BF82-4EC4-B9E1-EEDEC61DD8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15%</a:t>
                    </a:r>
                  </a:p>
                  <a:p>
                    <a:fld id="{8355CE07-1189-4338-810F-56023C11DEF2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BF82-4EC4-B9E1-EEDEC61DD84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46%</a:t>
                    </a:r>
                  </a:p>
                  <a:p>
                    <a:r>
                      <a:rPr lang="en-US"/>
                      <a:t>464K sq</a:t>
                    </a:r>
                    <a:r>
                      <a:rPr lang="en-US" baseline="0"/>
                      <a:t> ft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BF82-4EC4-B9E1-EEDEC61DD8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Residential Allocations</c:v>
                </c:pt>
                <c:pt idx="1">
                  <c:v>Residential Bonus Units</c:v>
                </c:pt>
                <c:pt idx="2">
                  <c:v>Tourist Bonus Units</c:v>
                </c:pt>
                <c:pt idx="3">
                  <c:v>Commercial Floor Area</c:v>
                </c:pt>
              </c:strCache>
            </c:strRef>
          </c:cat>
          <c:val>
            <c:numRef>
              <c:f>Sheet1!$B$2:$B$5</c:f>
              <c:numCache>
                <c:formatCode>_(* #,##0_);_(* \(#,##0\);_(* "-"??_);_(@_)</c:formatCode>
                <c:ptCount val="4"/>
                <c:pt idx="0">
                  <c:v>6734</c:v>
                </c:pt>
                <c:pt idx="1">
                  <c:v>736</c:v>
                </c:pt>
                <c:pt idx="2">
                  <c:v>58</c:v>
                </c:pt>
                <c:pt idx="3">
                  <c:v>464144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2-4EC4-B9E1-EEDEC61DD8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Assigned</c:v>
                </c:pt>
              </c:strCache>
            </c:strRef>
          </c:tx>
          <c:spPr>
            <a:solidFill>
              <a:srgbClr val="C8960C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2%</a:t>
                    </a:r>
                  </a:p>
                  <a:p>
                    <a:fld id="{06E02DEF-51C2-43EB-B252-F49BD12B2002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F82-4EC4-B9E1-EEDEC61DD8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26%</a:t>
                    </a:r>
                  </a:p>
                  <a:p>
                    <a:fld id="{056AD3BA-D463-453C-BBC2-6FC543E154A5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BF82-4EC4-B9E1-EEDEC61DD8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35%</a:t>
                    </a:r>
                  </a:p>
                  <a:p>
                    <a:fld id="{E2CAB833-0C5C-4030-A187-31031B632C0A}" type="VALUE">
                      <a:rPr lang="en-US" smtClean="0"/>
                      <a:pPr/>
                      <a:t>[VALUE]</a:t>
                    </a:fld>
                    <a:r>
                      <a:rPr lang="en-US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BF82-4EC4-B9E1-EEDEC61DD84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5%</a:t>
                    </a:r>
                  </a:p>
                  <a:p>
                    <a:r>
                      <a:rPr lang="en-US" dirty="0"/>
                      <a:t>47K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BF82-4EC4-B9E1-EEDEC61DD8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Residential Allocations</c:v>
                </c:pt>
                <c:pt idx="1">
                  <c:v>Residential Bonus Units</c:v>
                </c:pt>
                <c:pt idx="2">
                  <c:v>Tourist Bonus Units</c:v>
                </c:pt>
                <c:pt idx="3">
                  <c:v>Commercial Floor Area</c:v>
                </c:pt>
              </c:strCache>
            </c:strRef>
          </c:cat>
          <c:val>
            <c:numRef>
              <c:f>Sheet1!$C$2:$C$5</c:f>
              <c:numCache>
                <c:formatCode>_(* #,##0_);_(* \(#,##0\);_(* "-"??_);_(@_)</c:formatCode>
                <c:ptCount val="4"/>
                <c:pt idx="0">
                  <c:v>175</c:v>
                </c:pt>
                <c:pt idx="1">
                  <c:v>523</c:v>
                </c:pt>
                <c:pt idx="2">
                  <c:v>138</c:v>
                </c:pt>
                <c:pt idx="3">
                  <c:v>46962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82-4EC4-B9E1-EEDEC61DD8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Assigned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20%</a:t>
                    </a:r>
                  </a:p>
                  <a:p>
                    <a:fld id="{87E5508B-46FC-4541-BA74-3F6DC5B61759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BF82-4EC4-B9E1-EEDEC61DD8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37%</a:t>
                    </a:r>
                  </a:p>
                  <a:p>
                    <a:fld id="{279E1FE6-E99C-4EE2-956B-44724E81D0B7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BF82-4EC4-B9E1-EEDEC61DD8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51%</a:t>
                    </a:r>
                  </a:p>
                  <a:p>
                    <a:fld id="{13494D04-B355-44DB-838F-29216498115C}" type="VALUE">
                      <a:rPr lang="en-US" smtClean="0"/>
                      <a:pPr/>
                      <a:t>[VALUE]</a:t>
                    </a:fld>
                    <a:r>
                      <a:rPr lang="en-US"/>
                      <a:t>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BF82-4EC4-B9E1-EEDEC61DD84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49%</a:t>
                    </a:r>
                  </a:p>
                  <a:p>
                    <a:r>
                      <a:rPr lang="en-US"/>
                      <a:t>489K sq ft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BF82-4EC4-B9E1-EEDEC61DD8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Residential Allocations</c:v>
                </c:pt>
                <c:pt idx="1">
                  <c:v>Residential Bonus Units</c:v>
                </c:pt>
                <c:pt idx="2">
                  <c:v>Tourist Bonus Units</c:v>
                </c:pt>
                <c:pt idx="3">
                  <c:v>Commercial Floor Area</c:v>
                </c:pt>
              </c:strCache>
            </c:strRef>
          </c:cat>
          <c:val>
            <c:numRef>
              <c:f>Sheet1!$D$2:$D$5</c:f>
              <c:numCache>
                <c:formatCode>_(* #,##0_);_(* \(#,##0\);_(* "-"??_);_(@_)</c:formatCode>
                <c:ptCount val="4"/>
                <c:pt idx="0">
                  <c:v>1778</c:v>
                </c:pt>
                <c:pt idx="1">
                  <c:v>741</c:v>
                </c:pt>
                <c:pt idx="2">
                  <c:v>204</c:v>
                </c:pt>
                <c:pt idx="3">
                  <c:v>488894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82-4EC4-B9E1-EEDEC61DD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36728496"/>
        <c:axId val="1136738576"/>
      </c:barChart>
      <c:catAx>
        <c:axId val="11367284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738576"/>
        <c:crosses val="autoZero"/>
        <c:auto val="1"/>
        <c:lblAlgn val="ctr"/>
        <c:lblOffset val="100"/>
        <c:noMultiLvlLbl val="0"/>
      </c:catAx>
      <c:valAx>
        <c:axId val="1136738576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72849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4307723674828412"/>
          <c:y val="0.9108496465687278"/>
          <c:w val="0.41283598542987882"/>
          <c:h val="7.1452400620085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8654688466414"/>
          <c:y val="0.10912696707802665"/>
          <c:w val="0.76183781193480271"/>
          <c:h val="0.7337826818364583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Residential Units</c:v>
                </c:pt>
                <c:pt idx="1">
                  <c:v>Tourist Accommodation Units</c:v>
                </c:pt>
                <c:pt idx="2">
                  <c:v>Commercial Floor Area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A-437A-9287-0F0DC91C0B90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2025 Existing</c:v>
                </c:pt>
              </c:strCache>
            </c:strRef>
          </c:tx>
          <c:spPr>
            <a:solidFill>
              <a:srgbClr val="4D6E74"/>
            </a:solidFill>
            <a:ln>
              <a:solidFill>
                <a:schemeClr val="bg2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93%</a:t>
                    </a:r>
                  </a:p>
                  <a:p>
                    <a:fld id="{291F42CF-339D-411F-9312-FFB3020772C8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404A-437A-9287-0F0DC91C0B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85%</a:t>
                    </a:r>
                  </a:p>
                  <a:p>
                    <a:r>
                      <a:rPr lang="en-US" dirty="0"/>
                      <a:t>10,761 units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4A-437A-9287-0F0DC91C0B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88%</a:t>
                    </a:r>
                  </a:p>
                  <a:p>
                    <a:r>
                      <a:rPr lang="en-US" dirty="0"/>
                      <a:t>6.58M sq</a:t>
                    </a:r>
                    <a:r>
                      <a:rPr lang="en-US" baseline="0" dirty="0"/>
                      <a:t> ft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04A-437A-9287-0F0DC91C0B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46%</a:t>
                    </a:r>
                  </a:p>
                  <a:p>
                    <a:r>
                      <a:rPr lang="en-US" dirty="0"/>
                      <a:t>464K sq</a:t>
                    </a:r>
                    <a:r>
                      <a:rPr lang="en-US" baseline="0" dirty="0"/>
                      <a:t> ft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04A-437A-9287-0F0DC91C0B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Residential Units</c:v>
                </c:pt>
                <c:pt idx="1">
                  <c:v>Tourist Accommodation Units</c:v>
                </c:pt>
                <c:pt idx="2">
                  <c:v>Commercial Floor Area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49019</c:v>
                </c:pt>
                <c:pt idx="1">
                  <c:v>10761</c:v>
                </c:pt>
                <c:pt idx="2">
                  <c:v>6583769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4A-437A-9287-0F0DC91C0B90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Not Assigned + Not Constructed</c:v>
                </c:pt>
              </c:strCache>
            </c:strRef>
          </c:tx>
          <c:spPr>
            <a:solidFill>
              <a:srgbClr val="8E9A61"/>
            </a:solidFill>
            <a:ln>
              <a:solidFill>
                <a:schemeClr val="bg2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4.2939215201880732E-3"/>
                  <c:y val="-0.10181062979353428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1%</a:t>
                    </a:r>
                  </a:p>
                  <a:p>
                    <a:fld id="{2D9FB4E3-673C-4C71-B462-F0E6E5B20852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404A-437A-9287-0F0DC91C0B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12%</a:t>
                    </a:r>
                  </a:p>
                  <a:p>
                    <a:fld id="{1CED0A7B-5C6E-48F3-8391-AD3442F35B4A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404A-437A-9287-0F0DC91C0B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4%</a:t>
                    </a:r>
                  </a:p>
                  <a:p>
                    <a:r>
                      <a:rPr lang="en-US" dirty="0"/>
                      <a:t>327K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404A-437A-9287-0F0DC91C0B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5%</a:t>
                    </a:r>
                  </a:p>
                  <a:p>
                    <a:r>
                      <a:rPr lang="en-US" dirty="0"/>
                      <a:t>47K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04A-437A-9287-0F0DC91C0B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Residential Units</c:v>
                </c:pt>
                <c:pt idx="1">
                  <c:v>Tourist Accommodation Units</c:v>
                </c:pt>
                <c:pt idx="2">
                  <c:v>Commercial Floor Area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399</c:v>
                </c:pt>
                <c:pt idx="1">
                  <c:v>1501</c:v>
                </c:pt>
                <c:pt idx="2">
                  <c:v>326776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4A-437A-9287-0F0DC91C0B90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Est. Banked Development</c:v>
                </c:pt>
              </c:strCache>
            </c:strRef>
          </c:tx>
          <c:spPr>
            <a:solidFill>
              <a:srgbClr val="C8960C"/>
            </a:solidFill>
            <a:ln>
              <a:solidFill>
                <a:schemeClr val="bg2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6%</a:t>
                    </a:r>
                  </a:p>
                  <a:p>
                    <a:fld id="{099DF661-F830-4D7E-A829-631C02387BB4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04A-437A-9287-0F0DC91C0B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3%</a:t>
                    </a:r>
                  </a:p>
                  <a:p>
                    <a:fld id="{E454E986-BDC8-4B28-AA04-67EFFD43CABD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404A-437A-9287-0F0DC91C0B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7%</a:t>
                    </a:r>
                  </a:p>
                  <a:p>
                    <a:r>
                      <a:rPr lang="en-US" dirty="0"/>
                      <a:t>536K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04A-437A-9287-0F0DC91C0B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49%</a:t>
                    </a:r>
                  </a:p>
                  <a:p>
                    <a:r>
                      <a:rPr lang="en-US" dirty="0"/>
                      <a:t>489K sq ft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04A-437A-9287-0F0DC91C0B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Residential Units</c:v>
                </c:pt>
                <c:pt idx="1">
                  <c:v>Tourist Accommodation Units</c:v>
                </c:pt>
                <c:pt idx="2">
                  <c:v>Commercial Floor Area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3217</c:v>
                </c:pt>
                <c:pt idx="1">
                  <c:v>342</c:v>
                </c:pt>
                <c:pt idx="2">
                  <c:v>535856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04A-437A-9287-0F0DC91C0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0858848"/>
        <c:axId val="120859808"/>
      </c:barChart>
      <c:catAx>
        <c:axId val="120858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59808"/>
        <c:crosses val="autoZero"/>
        <c:auto val="1"/>
        <c:lblAlgn val="ctr"/>
        <c:lblOffset val="100"/>
        <c:noMultiLvlLbl val="0"/>
      </c:catAx>
      <c:valAx>
        <c:axId val="120859808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58848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 sz="1100" b="1">
          <a:solidFill>
            <a:schemeClr val="bg2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70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8C70-4A12-01D2-A740-AFC43F59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10F60-C18B-6A98-77F3-BD38D5DF6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D0318-7781-914B-F976-E98A478C1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8EDC-9462-9476-18F9-F2BDAF169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3A5D-99EC-C8E9-3803-4ADF8304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76EC2-B89B-4AAD-7A6B-ABF973B5E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D0669-9830-EAED-070D-E870E292B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FDB78-585D-E891-42A4-2A85B9FE9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11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49CA-F0A8-F4DD-4C68-3DF887CB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5B050-2BB1-6FCA-48F0-79D719F26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16B93-6D4F-85D6-667C-19E3A47DD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1,015 Allocations that have not been assigned and 770 allocations held by TRPA that will be released at 130/yr through 2032. Another 175 allocations assigned not built. </a:t>
            </a:r>
          </a:p>
          <a:p>
            <a:endParaRPr lang="en-US" dirty="0"/>
          </a:p>
          <a:p>
            <a:r>
              <a:rPr lang="en-US" dirty="0"/>
              <a:t>Separate pool of Residential Bonus units for income-restricted housing. 741 Bonus Units not assigned; another 523 assigned not built.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6383E-5D82-66C2-5570-4E60F211C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5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39A2-B029-35D2-236E-9570254E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84D60-6B09-BB47-9CBB-89BB59029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97358-2C50-9330-1DDD-E4163343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74408-E4C5-7CBF-D058-4138A172E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31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7F970-EAA8-5B3F-B017-14F558F3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212CA-3D8C-6DD8-C56F-FCFC45FCA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DC517-1DF9-48BE-D33F-E598717AF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FD429-7747-9E82-6C2D-8326AF509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B265-BB3E-CD71-C488-012AA565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4F1B0-2040-D81C-309E-B32A39EE2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D6B48-9BFF-1A25-B388-E38BCFEF8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797DC-6116-5FEA-2E66-BA6EC6EC2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07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Remaining (Assigned Not Built) and Not Assigned: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Residential Allocations</a:t>
            </a:r>
            <a:r>
              <a:rPr lang="en-US" dirty="0">
                <a:effectLst/>
              </a:rPr>
              <a:t> =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22%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Residential Bonus Units</a:t>
            </a:r>
            <a:r>
              <a:rPr lang="en-US" dirty="0">
                <a:effectLst/>
              </a:rPr>
              <a:t> =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63%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Tourist Bonus Units</a:t>
            </a:r>
            <a:r>
              <a:rPr lang="en-US" dirty="0">
                <a:effectLst/>
              </a:rPr>
              <a:t> =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86%</a:t>
            </a:r>
            <a:r>
              <a:rPr lang="en-US" dirty="0">
                <a:effectLst/>
              </a:rPr>
              <a:t>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Commercial Floor Area</a:t>
            </a:r>
            <a:r>
              <a:rPr lang="en-US" dirty="0">
                <a:effectLst/>
              </a:rPr>
              <a:t> =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54%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92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DB26-D90F-59D4-740A-60222343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0E7B2-03F9-699C-4A60-E76F18878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96E73-87BC-C90E-7D50-E69768B6F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86% of the existing residential development today (~42K units) was built before the 1987 Regional Plan.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93% of the existing commercial floor area today was built before the 1987 Regional Plan.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0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chart" Target="../charts/chart1.xml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0.svg"/><Relationship Id="rId5" Type="http://schemas.openxmlformats.org/officeDocument/2006/relationships/image" Target="../media/image3.svg"/><Relationship Id="rId10" Type="http://schemas.openxmlformats.org/officeDocument/2006/relationships/chart" Target="../charts/chart2.xml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5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7E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TAHOE REGIONAL PLANNING AGENCY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 Tahoe</a:t>
            </a:r>
            <a:endParaRPr lang="en-US" sz="52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Plan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A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Report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1216-E432-0A41-D3C3-E42112BF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1DC0C9-2F58-B9A7-99FF-EAF2DCB98950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429B12-36FA-8B9E-6A59-CE44EBCF19CE}"/>
              </a:ext>
            </a:extLst>
          </p:cNvPr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Residential Units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8B87F3D-48BA-2428-C78B-E7D034010FB9}"/>
              </a:ext>
            </a:extLst>
          </p:cNvPr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 · Lake Tahoe Regional Plan · 2026</a:t>
            </a:r>
            <a:endParaRPr lang="en-US" sz="8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EF0AA-F21D-5982-5224-DA4665592465}"/>
              </a:ext>
            </a:extLst>
          </p:cNvPr>
          <p:cNvSpPr txBox="1"/>
          <p:nvPr/>
        </p:nvSpPr>
        <p:spPr>
          <a:xfrm>
            <a:off x="53551" y="537809"/>
            <a:ext cx="3577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LAKE TAHOE REGION: RESIDENTIAL UNITS BY JURISDICTION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9DBC0C-4FDD-D4C3-E2C5-CD812D9F487B}"/>
              </a:ext>
            </a:extLst>
          </p:cNvPr>
          <p:cNvSpPr txBox="1"/>
          <p:nvPr/>
        </p:nvSpPr>
        <p:spPr>
          <a:xfrm>
            <a:off x="1532458" y="1088238"/>
            <a:ext cx="73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385A5F-F186-9D3B-A12E-F7D230BA3E01}"/>
              </a:ext>
            </a:extLst>
          </p:cNvPr>
          <p:cNvCxnSpPr/>
          <p:nvPr/>
        </p:nvCxnSpPr>
        <p:spPr>
          <a:xfrm flipH="1">
            <a:off x="888143" y="1272904"/>
            <a:ext cx="650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AD4DC49-95CB-873C-1244-F2B6AFFA8D74}"/>
              </a:ext>
            </a:extLst>
          </p:cNvPr>
          <p:cNvCxnSpPr/>
          <p:nvPr/>
        </p:nvCxnSpPr>
        <p:spPr>
          <a:xfrm flipH="1">
            <a:off x="2154756" y="1272904"/>
            <a:ext cx="650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1F6FC428-E36C-2CF6-B089-7FB99708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480" y="561403"/>
            <a:ext cx="4983292" cy="414413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5F02C67-5DCF-45B3-571E-313D4F717658}"/>
              </a:ext>
            </a:extLst>
          </p:cNvPr>
          <p:cNvSpPr txBox="1"/>
          <p:nvPr/>
        </p:nvSpPr>
        <p:spPr>
          <a:xfrm>
            <a:off x="5313149" y="517305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CALIFORNIA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C35191-E78A-1C1D-EEAE-365B30E0A8F0}"/>
              </a:ext>
            </a:extLst>
          </p:cNvPr>
          <p:cNvSpPr txBox="1"/>
          <p:nvPr/>
        </p:nvSpPr>
        <p:spPr>
          <a:xfrm>
            <a:off x="6379467" y="517304"/>
            <a:ext cx="798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NEVADA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6AC84CB-84E1-33AD-DD32-4CC33F00310D}"/>
              </a:ext>
            </a:extLst>
          </p:cNvPr>
          <p:cNvSpPr/>
          <p:nvPr/>
        </p:nvSpPr>
        <p:spPr>
          <a:xfrm>
            <a:off x="3836034" y="929233"/>
            <a:ext cx="1381125" cy="701851"/>
          </a:xfrm>
          <a:prstGeom prst="roundRect">
            <a:avLst/>
          </a:prstGeom>
          <a:ln>
            <a:solidFill>
              <a:srgbClr val="E7C2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PLACER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57" name="Graphic 56" descr="Home with solid fill">
            <a:extLst>
              <a:ext uri="{FF2B5EF4-FFF2-40B4-BE49-F238E27FC236}">
                <a16:creationId xmlns:a16="http://schemas.microsoft.com/office/drawing/2014/main" id="{65CAEC76-30B1-1652-59DB-FE171CC3B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3993" y="1089064"/>
            <a:ext cx="424585" cy="42458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F644799-04DF-348D-7F34-1DDE186117CF}"/>
              </a:ext>
            </a:extLst>
          </p:cNvPr>
          <p:cNvSpPr txBox="1"/>
          <p:nvPr/>
        </p:nvSpPr>
        <p:spPr>
          <a:xfrm>
            <a:off x="4108071" y="1101074"/>
            <a:ext cx="10967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11,818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62F5A4-3B63-C37D-54BB-E4BD6EBD9CC8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217159" y="1280159"/>
            <a:ext cx="374016" cy="434341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25B7933-0DC5-DF9F-4353-35BEB76E059E}"/>
              </a:ext>
            </a:extLst>
          </p:cNvPr>
          <p:cNvSpPr/>
          <p:nvPr/>
        </p:nvSpPr>
        <p:spPr>
          <a:xfrm>
            <a:off x="3823721" y="3053939"/>
            <a:ext cx="1381125" cy="701851"/>
          </a:xfrm>
          <a:prstGeom prst="roundRect">
            <a:avLst/>
          </a:prstGeom>
          <a:ln>
            <a:solidFill>
              <a:srgbClr val="A4B1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EL DORADO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64" name="Graphic 63" descr="Home with solid fill">
            <a:extLst>
              <a:ext uri="{FF2B5EF4-FFF2-40B4-BE49-F238E27FC236}">
                <a16:creationId xmlns:a16="http://schemas.microsoft.com/office/drawing/2014/main" id="{EEE854E7-6CF0-6D9D-FB33-9DAD58E7F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680" y="3213770"/>
            <a:ext cx="424585" cy="42458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477AFC4-B3AE-ED92-1464-75766EB7E024}"/>
              </a:ext>
            </a:extLst>
          </p:cNvPr>
          <p:cNvSpPr txBox="1"/>
          <p:nvPr/>
        </p:nvSpPr>
        <p:spPr>
          <a:xfrm>
            <a:off x="4095758" y="3225780"/>
            <a:ext cx="10967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9,105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413FF1-DD7F-5404-C1BA-A9186561BDA0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5204846" y="3351332"/>
            <a:ext cx="597435" cy="5353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0F00B00-2925-C3F7-144E-E325889541E1}"/>
              </a:ext>
            </a:extLst>
          </p:cNvPr>
          <p:cNvSpPr/>
          <p:nvPr/>
        </p:nvSpPr>
        <p:spPr>
          <a:xfrm>
            <a:off x="7398181" y="803199"/>
            <a:ext cx="1381125" cy="701851"/>
          </a:xfrm>
          <a:prstGeom prst="roundRect">
            <a:avLst/>
          </a:prstGeom>
          <a:ln>
            <a:solidFill>
              <a:srgbClr val="A281B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WASHOE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68" name="Graphic 67" descr="Home with solid fill">
            <a:extLst>
              <a:ext uri="{FF2B5EF4-FFF2-40B4-BE49-F238E27FC236}">
                <a16:creationId xmlns:a16="http://schemas.microsoft.com/office/drawing/2014/main" id="{8E20BAA3-E01F-7E52-36EC-121737DF7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6140" y="963030"/>
            <a:ext cx="424585" cy="4245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26CB53D-7713-21F5-1201-D2803E5FFEF9}"/>
              </a:ext>
            </a:extLst>
          </p:cNvPr>
          <p:cNvSpPr txBox="1"/>
          <p:nvPr/>
        </p:nvSpPr>
        <p:spPr>
          <a:xfrm>
            <a:off x="7670218" y="975040"/>
            <a:ext cx="10967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7,958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C4727E6-8636-3753-693B-004A967F7AE2}"/>
              </a:ext>
            </a:extLst>
          </p:cNvPr>
          <p:cNvCxnSpPr>
            <a:cxnSpLocks/>
          </p:cNvCxnSpPr>
          <p:nvPr/>
        </p:nvCxnSpPr>
        <p:spPr>
          <a:xfrm flipH="1">
            <a:off x="6750862" y="1136489"/>
            <a:ext cx="647319" cy="54221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ADBC36B-32AD-CF76-6033-983722013974}"/>
              </a:ext>
            </a:extLst>
          </p:cNvPr>
          <p:cNvSpPr/>
          <p:nvPr/>
        </p:nvSpPr>
        <p:spPr>
          <a:xfrm>
            <a:off x="7506843" y="1811364"/>
            <a:ext cx="1515898" cy="70185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CARSON CITY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72" name="Graphic 71" descr="Home with solid fill">
            <a:extLst>
              <a:ext uri="{FF2B5EF4-FFF2-40B4-BE49-F238E27FC236}">
                <a16:creationId xmlns:a16="http://schemas.microsoft.com/office/drawing/2014/main" id="{24B43E59-73C0-CBC9-185E-550C0522B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4802" y="1964563"/>
            <a:ext cx="424585" cy="42458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9EECCF8-45DF-2C1E-E68A-93C7760B8CA4}"/>
              </a:ext>
            </a:extLst>
          </p:cNvPr>
          <p:cNvSpPr txBox="1"/>
          <p:nvPr/>
        </p:nvSpPr>
        <p:spPr>
          <a:xfrm>
            <a:off x="7830725" y="1976286"/>
            <a:ext cx="10967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    4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C5ADF93-3752-8074-EDC8-53C2136F2A38}"/>
              </a:ext>
            </a:extLst>
          </p:cNvPr>
          <p:cNvCxnSpPr>
            <a:cxnSpLocks/>
            <a:stCxn id="71" idx="1"/>
          </p:cNvCxnSpPr>
          <p:nvPr/>
        </p:nvCxnSpPr>
        <p:spPr>
          <a:xfrm flipH="1" flipV="1">
            <a:off x="6998030" y="2160337"/>
            <a:ext cx="508813" cy="195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08E74B3-D3EC-0B9D-7A06-3017BA337E73}"/>
              </a:ext>
            </a:extLst>
          </p:cNvPr>
          <p:cNvSpPr/>
          <p:nvPr/>
        </p:nvSpPr>
        <p:spPr>
          <a:xfrm>
            <a:off x="7390824" y="3020266"/>
            <a:ext cx="1381125" cy="701851"/>
          </a:xfrm>
          <a:prstGeom prst="roundRect">
            <a:avLst/>
          </a:prstGeom>
          <a:ln>
            <a:solidFill>
              <a:srgbClr val="5C90C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DOUGLAS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76" name="Graphic 75" descr="Home with solid fill">
            <a:extLst>
              <a:ext uri="{FF2B5EF4-FFF2-40B4-BE49-F238E27FC236}">
                <a16:creationId xmlns:a16="http://schemas.microsoft.com/office/drawing/2014/main" id="{F41EF118-6386-D0A8-CB93-2B54E98E5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6140" y="3180879"/>
            <a:ext cx="424585" cy="42458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DF87881-2BF8-B253-E3AD-7B2533059D6B}"/>
              </a:ext>
            </a:extLst>
          </p:cNvPr>
          <p:cNvSpPr txBox="1"/>
          <p:nvPr/>
        </p:nvSpPr>
        <p:spPr>
          <a:xfrm>
            <a:off x="7682531" y="3201161"/>
            <a:ext cx="109677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4,719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1EBDA87-6C20-A353-44D6-8348A25220B2}"/>
              </a:ext>
            </a:extLst>
          </p:cNvPr>
          <p:cNvCxnSpPr>
            <a:cxnSpLocks/>
          </p:cNvCxnSpPr>
          <p:nvPr/>
        </p:nvCxnSpPr>
        <p:spPr>
          <a:xfrm flipH="1" flipV="1">
            <a:off x="6998030" y="3020266"/>
            <a:ext cx="392794" cy="331066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EFDF28F-129B-CBF1-C025-025F429AE44E}"/>
              </a:ext>
            </a:extLst>
          </p:cNvPr>
          <p:cNvSpPr/>
          <p:nvPr/>
        </p:nvSpPr>
        <p:spPr>
          <a:xfrm>
            <a:off x="4548403" y="4022722"/>
            <a:ext cx="1933381" cy="701851"/>
          </a:xfrm>
          <a:prstGeom prst="roundRect">
            <a:avLst/>
          </a:prstGeom>
          <a:ln>
            <a:solidFill>
              <a:srgbClr val="F49F5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CITY OF SOUTH LAKE TAHOE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80" name="Graphic 79" descr="Home with solid fill">
            <a:extLst>
              <a:ext uri="{FF2B5EF4-FFF2-40B4-BE49-F238E27FC236}">
                <a16:creationId xmlns:a16="http://schemas.microsoft.com/office/drawing/2014/main" id="{39485901-4AD5-F8BC-98B2-41B3EEC38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0409" y="4153123"/>
            <a:ext cx="424585" cy="42458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77C8E217-CD91-04B6-7A93-F25541ED071A}"/>
              </a:ext>
            </a:extLst>
          </p:cNvPr>
          <p:cNvSpPr txBox="1"/>
          <p:nvPr/>
        </p:nvSpPr>
        <p:spPr>
          <a:xfrm>
            <a:off x="5084487" y="4165133"/>
            <a:ext cx="136483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2000" dirty="0"/>
              <a:t>15,415</a:t>
            </a:r>
            <a:endParaRPr lang="en-US" dirty="0"/>
          </a:p>
          <a:p>
            <a:r>
              <a:rPr lang="en-US" sz="900" dirty="0"/>
              <a:t>RESIDENTIAL UNITS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982A650-910B-847C-3E84-1C147EB8828B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6481784" y="3704615"/>
            <a:ext cx="140722" cy="66903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95" name="Chart 94">
            <a:extLst>
              <a:ext uri="{FF2B5EF4-FFF2-40B4-BE49-F238E27FC236}">
                <a16:creationId xmlns:a16="http://schemas.microsoft.com/office/drawing/2014/main" id="{98B049A6-4696-1240-3D9E-DD2C4B8F02A2}"/>
              </a:ext>
            </a:extLst>
          </p:cNvPr>
          <p:cNvGraphicFramePr>
            <a:graphicFrameLocks/>
          </p:cNvGraphicFramePr>
          <p:nvPr/>
        </p:nvGraphicFramePr>
        <p:xfrm>
          <a:off x="-432390" y="1931559"/>
          <a:ext cx="4572000" cy="3144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C3351B52-4ABA-6EE8-F6B6-6BD1E7A25C5A}"/>
              </a:ext>
            </a:extLst>
          </p:cNvPr>
          <p:cNvSpPr txBox="1"/>
          <p:nvPr/>
        </p:nvSpPr>
        <p:spPr>
          <a:xfrm>
            <a:off x="489316" y="1880760"/>
            <a:ext cx="478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Percentage of Residential Units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829CBC-D631-FAB0-930F-8BEF9BA69EC8}"/>
              </a:ext>
            </a:extLst>
          </p:cNvPr>
          <p:cNvSpPr txBox="1"/>
          <p:nvPr/>
        </p:nvSpPr>
        <p:spPr>
          <a:xfrm>
            <a:off x="5886096" y="2165703"/>
            <a:ext cx="948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LAKE TAHOE</a:t>
            </a:r>
          </a:p>
        </p:txBody>
      </p:sp>
    </p:spTree>
    <p:extLst>
      <p:ext uri="{BB962C8B-B14F-4D97-AF65-F5344CB8AC3E}">
        <p14:creationId xmlns:p14="http://schemas.microsoft.com/office/powerpoint/2010/main" val="310141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Residential Units — Key Statistics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2816352" cy="64008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49,019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Residential Units (2025)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baseline: 47,550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5264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55264" y="548640"/>
            <a:ext cx="2816352" cy="64008"/>
          </a:xfrm>
          <a:prstGeom prst="rect">
            <a:avLst/>
          </a:prstGeom>
          <a:solidFill>
            <a:srgbClr val="0D5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46704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5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+1,469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28416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Growth 2012–2025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over 13 years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0488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90488" y="548640"/>
            <a:ext cx="2816352" cy="64008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Net Additions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year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5122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5122" y="2048256"/>
            <a:ext cx="2084832" cy="64008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6562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838274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Growth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38274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12578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12578" y="2048256"/>
            <a:ext cx="2084832" cy="64008"/>
          </a:xfrm>
          <a:prstGeom prst="rect">
            <a:avLst/>
          </a:prstGeom>
          <a:solidFill>
            <a:srgbClr val="6B7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4018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+1,573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85730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Additions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85730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88850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88850" y="2048256"/>
            <a:ext cx="2084832" cy="64008"/>
          </a:xfrm>
          <a:prstGeom prst="rect">
            <a:avLst/>
          </a:prstGeom>
          <a:solidFill>
            <a:srgbClr val="7A79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80290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−110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662002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Deductions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62002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3830" y="3657337"/>
            <a:ext cx="8595360" cy="172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72410" y="3825593"/>
            <a:ext cx="84582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FontTx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86% of residential development was built before the 1987 Regional Plan</a:t>
            </a: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Allocations remain the largest cumulative source (887 units added, 56% of total additions)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Units surged in 2024–2025, becoming the #1 source of 2024 and 2025 additions </a:t>
            </a:r>
          </a:p>
          <a:p>
            <a:pPr marL="342900" indent="-342900">
              <a:spcAft>
                <a:spcPts val="300"/>
              </a:spcAft>
              <a:buSzPct val="100000"/>
              <a:buFontTx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units added since 2012 are on the south shore; 83% in California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(TRPA), 2026 Cumulative Accounting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D3E5-D10A-0482-DA6E-0693A88F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B5BA31-4A2E-37F2-5043-40F685CFC49A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04DA8C-CF08-ECAB-BD4A-8F4D42C42EA6}"/>
              </a:ext>
            </a:extLst>
          </p:cNvPr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Composition of Additional Residential Development</a:t>
            </a:r>
            <a:endParaRPr lang="en-US" sz="1400" dirty="0"/>
          </a:p>
        </p:txBody>
      </p:sp>
      <p:sp>
        <p:nvSpPr>
          <p:cNvPr id="7" name="Text 39">
            <a:extLst>
              <a:ext uri="{FF2B5EF4-FFF2-40B4-BE49-F238E27FC236}">
                <a16:creationId xmlns:a16="http://schemas.microsoft.com/office/drawing/2014/main" id="{9CA7AEC1-297C-9269-9B78-E275BE149F60}"/>
              </a:ext>
            </a:extLst>
          </p:cNvPr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(TRPA), 2026 Cumulative Accounting</a:t>
            </a:r>
            <a:endParaRPr lang="en-US" sz="850" dirty="0"/>
          </a:p>
        </p:txBody>
      </p:sp>
      <p:sp>
        <p:nvSpPr>
          <p:cNvPr id="8" name="Text 38">
            <a:extLst>
              <a:ext uri="{FF2B5EF4-FFF2-40B4-BE49-F238E27FC236}">
                <a16:creationId xmlns:a16="http://schemas.microsoft.com/office/drawing/2014/main" id="{4D0143CB-C84D-F9D7-B53C-9FDE45B7E620}"/>
              </a:ext>
            </a:extLst>
          </p:cNvPr>
          <p:cNvSpPr/>
          <p:nvPr/>
        </p:nvSpPr>
        <p:spPr>
          <a:xfrm>
            <a:off x="137160" y="520365"/>
            <a:ext cx="84582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units constructed with bonus units than allocations in 2024 and 2025  </a:t>
            </a: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and transfers steadily growing - account for 26% of constructed units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0B77A-BE59-2596-E260-C48A59050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32" b="8161"/>
          <a:stretch>
            <a:fillRect/>
          </a:stretch>
        </p:blipFill>
        <p:spPr>
          <a:xfrm>
            <a:off x="0" y="1246907"/>
            <a:ext cx="9144000" cy="3503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7BF8CA-A3AA-9ACC-9482-503C9228B8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047"/>
          <a:stretch>
            <a:fillRect/>
          </a:stretch>
        </p:blipFill>
        <p:spPr>
          <a:xfrm>
            <a:off x="0" y="1113696"/>
            <a:ext cx="9144000" cy="23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3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86C1-67EA-EEEB-704F-62538A3D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267D85-AB17-2CAA-4128-0E853E2F08CF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69C711-6697-1BE0-EEF4-D779DD86E18A}"/>
              </a:ext>
            </a:extLst>
          </p:cNvPr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Residential Allocations Remaining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4910321-DE1F-7501-FFD8-3B70D53C8CE8}"/>
              </a:ext>
            </a:extLst>
          </p:cNvPr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 · Lake Tahoe Regional Plan · 2026</a:t>
            </a:r>
            <a:endParaRPr lang="en-US" sz="8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8E2465-53B9-E9CD-FAD0-837D4EAFEA7F}"/>
              </a:ext>
            </a:extLst>
          </p:cNvPr>
          <p:cNvSpPr txBox="1"/>
          <p:nvPr/>
        </p:nvSpPr>
        <p:spPr>
          <a:xfrm>
            <a:off x="53551" y="481498"/>
            <a:ext cx="3577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LAKE TAHOE REGION: UNUSED RESIDENTIAL ALLOCATIONS BY JURISDICTION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9ABA3B-3988-4233-53AC-114249F57CDD}"/>
              </a:ext>
            </a:extLst>
          </p:cNvPr>
          <p:cNvSpPr txBox="1"/>
          <p:nvPr/>
        </p:nvSpPr>
        <p:spPr>
          <a:xfrm>
            <a:off x="1230227" y="1415308"/>
            <a:ext cx="116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of 2025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4EBBBB-DBB4-133F-EB65-A0544A487975}"/>
              </a:ext>
            </a:extLst>
          </p:cNvPr>
          <p:cNvCxnSpPr>
            <a:cxnSpLocks/>
          </p:cNvCxnSpPr>
          <p:nvPr/>
        </p:nvCxnSpPr>
        <p:spPr>
          <a:xfrm flipH="1">
            <a:off x="888143" y="1590298"/>
            <a:ext cx="36231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19C01326-4DB9-E8A9-C9DF-C2993C70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480" y="561403"/>
            <a:ext cx="4983292" cy="414413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168ED4C-B6AE-748D-54F3-9E4D195832AA}"/>
              </a:ext>
            </a:extLst>
          </p:cNvPr>
          <p:cNvSpPr txBox="1"/>
          <p:nvPr/>
        </p:nvSpPr>
        <p:spPr>
          <a:xfrm>
            <a:off x="5313149" y="517305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CALIFORNIA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6FFC8E-685B-6F82-7A35-B14603076ADA}"/>
              </a:ext>
            </a:extLst>
          </p:cNvPr>
          <p:cNvSpPr txBox="1"/>
          <p:nvPr/>
        </p:nvSpPr>
        <p:spPr>
          <a:xfrm>
            <a:off x="6379467" y="517304"/>
            <a:ext cx="798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NEVADA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AB6247F-758B-665A-E66C-D5D92A8B198F}"/>
              </a:ext>
            </a:extLst>
          </p:cNvPr>
          <p:cNvSpPr/>
          <p:nvPr/>
        </p:nvSpPr>
        <p:spPr>
          <a:xfrm>
            <a:off x="3836034" y="929233"/>
            <a:ext cx="1381125" cy="701851"/>
          </a:xfrm>
          <a:prstGeom prst="roundRect">
            <a:avLst/>
          </a:prstGeom>
          <a:ln>
            <a:solidFill>
              <a:srgbClr val="E7C2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PLACER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57" name="Graphic 56" descr="Home with solid fill">
            <a:extLst>
              <a:ext uri="{FF2B5EF4-FFF2-40B4-BE49-F238E27FC236}">
                <a16:creationId xmlns:a16="http://schemas.microsoft.com/office/drawing/2014/main" id="{032781B3-01F5-0A22-3D69-3EBB0A3E1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3993" y="1089064"/>
            <a:ext cx="424585" cy="42458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269251B-CDD0-BB37-C365-5E3BF33090B3}"/>
              </a:ext>
            </a:extLst>
          </p:cNvPr>
          <p:cNvSpPr txBox="1"/>
          <p:nvPr/>
        </p:nvSpPr>
        <p:spPr>
          <a:xfrm>
            <a:off x="3929472" y="1163108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349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064A89-F4BB-79B1-6738-36B6EBDB777A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217159" y="1280159"/>
            <a:ext cx="374016" cy="434341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E063F33-1165-559C-033B-7E40BCF1768D}"/>
              </a:ext>
            </a:extLst>
          </p:cNvPr>
          <p:cNvSpPr/>
          <p:nvPr/>
        </p:nvSpPr>
        <p:spPr>
          <a:xfrm>
            <a:off x="3823721" y="3053939"/>
            <a:ext cx="1381125" cy="701851"/>
          </a:xfrm>
          <a:prstGeom prst="roundRect">
            <a:avLst/>
          </a:prstGeom>
          <a:ln>
            <a:solidFill>
              <a:srgbClr val="A4B16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EL DORADO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64" name="Graphic 63" descr="Home with solid fill">
            <a:extLst>
              <a:ext uri="{FF2B5EF4-FFF2-40B4-BE49-F238E27FC236}">
                <a16:creationId xmlns:a16="http://schemas.microsoft.com/office/drawing/2014/main" id="{DADBF10F-730A-4125-0215-B9B4663DB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680" y="3213770"/>
            <a:ext cx="424585" cy="424585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7A47652-7BCD-21F5-4F12-0146E9E92B1F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5204846" y="3351332"/>
            <a:ext cx="597435" cy="5353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A6BF3BC-DB69-B0D8-DE55-87C8E223D1B4}"/>
              </a:ext>
            </a:extLst>
          </p:cNvPr>
          <p:cNvSpPr/>
          <p:nvPr/>
        </p:nvSpPr>
        <p:spPr>
          <a:xfrm>
            <a:off x="7398181" y="803199"/>
            <a:ext cx="1381125" cy="701851"/>
          </a:xfrm>
          <a:prstGeom prst="roundRect">
            <a:avLst/>
          </a:prstGeom>
          <a:ln>
            <a:solidFill>
              <a:srgbClr val="A281B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WASHOE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68" name="Graphic 67" descr="Home with solid fill">
            <a:extLst>
              <a:ext uri="{FF2B5EF4-FFF2-40B4-BE49-F238E27FC236}">
                <a16:creationId xmlns:a16="http://schemas.microsoft.com/office/drawing/2014/main" id="{EFAF8BF5-44DA-761B-2B47-97388A9EE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6140" y="963030"/>
            <a:ext cx="424585" cy="424585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B821264-7844-FB7A-7214-3F72213C5B6D}"/>
              </a:ext>
            </a:extLst>
          </p:cNvPr>
          <p:cNvCxnSpPr>
            <a:cxnSpLocks/>
          </p:cNvCxnSpPr>
          <p:nvPr/>
        </p:nvCxnSpPr>
        <p:spPr>
          <a:xfrm flipH="1">
            <a:off x="6750862" y="1136489"/>
            <a:ext cx="647319" cy="54221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8DFF1DB-826E-1403-AF04-2FDE3920EE05}"/>
              </a:ext>
            </a:extLst>
          </p:cNvPr>
          <p:cNvSpPr/>
          <p:nvPr/>
        </p:nvSpPr>
        <p:spPr>
          <a:xfrm>
            <a:off x="7506843" y="1811364"/>
            <a:ext cx="1515898" cy="70185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CARSON CITY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72" name="Graphic 71" descr="Home with solid fill">
            <a:extLst>
              <a:ext uri="{FF2B5EF4-FFF2-40B4-BE49-F238E27FC236}">
                <a16:creationId xmlns:a16="http://schemas.microsoft.com/office/drawing/2014/main" id="{ECE2BA8F-734D-737D-E29C-FB3562B94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4802" y="1964563"/>
            <a:ext cx="424585" cy="424585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2694ABC-19BB-E924-AAE9-DCCC0DDDEA89}"/>
              </a:ext>
            </a:extLst>
          </p:cNvPr>
          <p:cNvCxnSpPr>
            <a:cxnSpLocks/>
            <a:stCxn id="71" idx="1"/>
          </p:cNvCxnSpPr>
          <p:nvPr/>
        </p:nvCxnSpPr>
        <p:spPr>
          <a:xfrm flipH="1" flipV="1">
            <a:off x="6998030" y="2160337"/>
            <a:ext cx="508813" cy="195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3AE8E80-07B9-507F-8835-0E57E84F245E}"/>
              </a:ext>
            </a:extLst>
          </p:cNvPr>
          <p:cNvSpPr/>
          <p:nvPr/>
        </p:nvSpPr>
        <p:spPr>
          <a:xfrm>
            <a:off x="7390824" y="3020266"/>
            <a:ext cx="1381125" cy="701851"/>
          </a:xfrm>
          <a:prstGeom prst="roundRect">
            <a:avLst/>
          </a:prstGeom>
          <a:ln>
            <a:solidFill>
              <a:srgbClr val="5C90C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DOUGLAS COUNTY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76" name="Graphic 75" descr="Home with solid fill">
            <a:extLst>
              <a:ext uri="{FF2B5EF4-FFF2-40B4-BE49-F238E27FC236}">
                <a16:creationId xmlns:a16="http://schemas.microsoft.com/office/drawing/2014/main" id="{5E967205-310F-E9CF-A2B0-FB73174F0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6140" y="3180879"/>
            <a:ext cx="424585" cy="424585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B28A9DB-77DB-6502-2C5E-41B14D98448C}"/>
              </a:ext>
            </a:extLst>
          </p:cNvPr>
          <p:cNvCxnSpPr>
            <a:cxnSpLocks/>
          </p:cNvCxnSpPr>
          <p:nvPr/>
        </p:nvCxnSpPr>
        <p:spPr>
          <a:xfrm flipH="1" flipV="1">
            <a:off x="6998030" y="3020266"/>
            <a:ext cx="392794" cy="331066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1DC685-0652-3D58-9F79-67E85617BB51}"/>
              </a:ext>
            </a:extLst>
          </p:cNvPr>
          <p:cNvSpPr/>
          <p:nvPr/>
        </p:nvSpPr>
        <p:spPr>
          <a:xfrm>
            <a:off x="4548403" y="4022722"/>
            <a:ext cx="1933381" cy="701851"/>
          </a:xfrm>
          <a:prstGeom prst="roundRect">
            <a:avLst/>
          </a:prstGeom>
          <a:ln>
            <a:solidFill>
              <a:srgbClr val="F49F5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CITY OF SOUTH LAKE TAHOE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pic>
        <p:nvPicPr>
          <p:cNvPr id="80" name="Graphic 79" descr="Home with solid fill">
            <a:extLst>
              <a:ext uri="{FF2B5EF4-FFF2-40B4-BE49-F238E27FC236}">
                <a16:creationId xmlns:a16="http://schemas.microsoft.com/office/drawing/2014/main" id="{61AFACA6-B29A-0A7E-09B7-A8302653C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0409" y="4153123"/>
            <a:ext cx="424585" cy="424585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8C7C891-1BC8-0136-92B1-DA7264806033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6481784" y="3704615"/>
            <a:ext cx="140722" cy="669033"/>
          </a:xfrm>
          <a:prstGeom prst="line">
            <a:avLst/>
          </a:prstGeom>
          <a:ln cap="rnd">
            <a:solidFill>
              <a:schemeClr val="tx1"/>
            </a:solidFill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F4D1E7-D8EB-FB7D-7E1D-B194461E61BC}"/>
              </a:ext>
            </a:extLst>
          </p:cNvPr>
          <p:cNvSpPr txBox="1"/>
          <p:nvPr/>
        </p:nvSpPr>
        <p:spPr>
          <a:xfrm>
            <a:off x="7485029" y="1043132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135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191AD-685D-B713-183D-75E047952631}"/>
              </a:ext>
            </a:extLst>
          </p:cNvPr>
          <p:cNvSpPr txBox="1"/>
          <p:nvPr/>
        </p:nvSpPr>
        <p:spPr>
          <a:xfrm>
            <a:off x="7689663" y="2039502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0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3EFC2-6B0F-CF7F-F2E2-E52D13642379}"/>
              </a:ext>
            </a:extLst>
          </p:cNvPr>
          <p:cNvSpPr txBox="1"/>
          <p:nvPr/>
        </p:nvSpPr>
        <p:spPr>
          <a:xfrm>
            <a:off x="7467265" y="3260418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93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D45CA-7537-59C6-11EF-62ECAAFB10C3}"/>
              </a:ext>
            </a:extLst>
          </p:cNvPr>
          <p:cNvSpPr txBox="1"/>
          <p:nvPr/>
        </p:nvSpPr>
        <p:spPr>
          <a:xfrm>
            <a:off x="5004392" y="4252102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186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9DCB0-FD29-7A0B-0D1D-27BABD99A280}"/>
              </a:ext>
            </a:extLst>
          </p:cNvPr>
          <p:cNvSpPr txBox="1"/>
          <p:nvPr/>
        </p:nvSpPr>
        <p:spPr>
          <a:xfrm>
            <a:off x="3922340" y="3293423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98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6886B8-B332-22A9-911D-4E2DDB811DDA}"/>
              </a:ext>
            </a:extLst>
          </p:cNvPr>
          <p:cNvSpPr/>
          <p:nvPr/>
        </p:nvSpPr>
        <p:spPr>
          <a:xfrm>
            <a:off x="7560648" y="4048295"/>
            <a:ext cx="1515898" cy="70185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UNRELEASED ALLOCATIONS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73681-4F65-1B5E-8A8F-D9C68D88F83B}"/>
              </a:ext>
            </a:extLst>
          </p:cNvPr>
          <p:cNvSpPr txBox="1"/>
          <p:nvPr/>
        </p:nvSpPr>
        <p:spPr>
          <a:xfrm>
            <a:off x="7689663" y="4293003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  </a:t>
            </a:r>
            <a:r>
              <a:rPr lang="en-US" dirty="0"/>
              <a:t>770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E7C671-12ED-2018-899F-B1D879238174}"/>
              </a:ext>
            </a:extLst>
          </p:cNvPr>
          <p:cNvSpPr/>
          <p:nvPr/>
        </p:nvSpPr>
        <p:spPr>
          <a:xfrm>
            <a:off x="5591175" y="1943880"/>
            <a:ext cx="1165249" cy="701851"/>
          </a:xfrm>
          <a:prstGeom prst="roundRect">
            <a:avLst/>
          </a:prstGeom>
          <a:ln>
            <a:solidFill>
              <a:srgbClr val="5C90C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TRPA POOL</a:t>
            </a:r>
          </a:p>
          <a:p>
            <a:pPr algn="ctr"/>
            <a:endParaRPr lang="en-US" sz="1100" dirty="0"/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FA1BD-041C-80D5-94B5-C5A30F9DC85D}"/>
              </a:ext>
            </a:extLst>
          </p:cNvPr>
          <p:cNvSpPr txBox="1"/>
          <p:nvPr/>
        </p:nvSpPr>
        <p:spPr>
          <a:xfrm>
            <a:off x="5518291" y="2170617"/>
            <a:ext cx="13227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        </a:t>
            </a:r>
            <a:r>
              <a:rPr lang="en-US" dirty="0"/>
              <a:t>154</a:t>
            </a:r>
            <a:endParaRPr lang="en-US" sz="1600" dirty="0"/>
          </a:p>
          <a:p>
            <a:r>
              <a:rPr lang="en-US" sz="800" dirty="0"/>
              <a:t>RESIDENTIAL ALLOCATIONS</a:t>
            </a:r>
          </a:p>
        </p:txBody>
      </p:sp>
      <p:pic>
        <p:nvPicPr>
          <p:cNvPr id="13" name="Graphic 12" descr="Home with solid fill">
            <a:extLst>
              <a:ext uri="{FF2B5EF4-FFF2-40B4-BE49-F238E27FC236}">
                <a16:creationId xmlns:a16="http://schemas.microsoft.com/office/drawing/2014/main" id="{B73D2610-2518-F1B5-7F5D-56EFA08F5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92330" y="4238297"/>
            <a:ext cx="424585" cy="424585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8B049A6-4696-1240-3D9E-DD2C4B8F02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712463"/>
              </p:ext>
            </p:extLst>
          </p:nvPr>
        </p:nvGraphicFramePr>
        <p:xfrm>
          <a:off x="202973" y="2036212"/>
          <a:ext cx="329020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3A52E24-8229-2E65-A9C8-B57DCCBF4398}"/>
              </a:ext>
            </a:extLst>
          </p:cNvPr>
          <p:cNvSpPr txBox="1"/>
          <p:nvPr/>
        </p:nvSpPr>
        <p:spPr>
          <a:xfrm>
            <a:off x="628059" y="3863512"/>
            <a:ext cx="3257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9%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058977-EFC2-32BB-8FEA-AFA929164C20}"/>
              </a:ext>
            </a:extLst>
          </p:cNvPr>
          <p:cNvSpPr txBox="1"/>
          <p:nvPr/>
        </p:nvSpPr>
        <p:spPr>
          <a:xfrm>
            <a:off x="1074956" y="3863512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18%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639DC-A308-49C1-949B-A6F20BA27C9D}"/>
              </a:ext>
            </a:extLst>
          </p:cNvPr>
          <p:cNvSpPr txBox="1"/>
          <p:nvPr/>
        </p:nvSpPr>
        <p:spPr>
          <a:xfrm>
            <a:off x="1544027" y="3863512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6F8582-EABB-CF6D-36AE-B69F1C5DF017}"/>
              </a:ext>
            </a:extLst>
          </p:cNvPr>
          <p:cNvSpPr txBox="1"/>
          <p:nvPr/>
        </p:nvSpPr>
        <p:spPr>
          <a:xfrm>
            <a:off x="2004313" y="3863512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34%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3AADA5-3525-C85A-6591-8DFE40708AB7}"/>
              </a:ext>
            </a:extLst>
          </p:cNvPr>
          <p:cNvSpPr txBox="1"/>
          <p:nvPr/>
        </p:nvSpPr>
        <p:spPr>
          <a:xfrm>
            <a:off x="2475055" y="3863512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13%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17CDF-48E1-E4BA-C8A4-BA8B17E5AADA}"/>
              </a:ext>
            </a:extLst>
          </p:cNvPr>
          <p:cNvSpPr txBox="1"/>
          <p:nvPr/>
        </p:nvSpPr>
        <p:spPr>
          <a:xfrm>
            <a:off x="2933670" y="3850035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</a:rPr>
              <a:t>15%</a:t>
            </a:r>
          </a:p>
        </p:txBody>
      </p:sp>
      <p:pic>
        <p:nvPicPr>
          <p:cNvPr id="21" name="Graphic 20" descr="Home with solid fill">
            <a:extLst>
              <a:ext uri="{FF2B5EF4-FFF2-40B4-BE49-F238E27FC236}">
                <a16:creationId xmlns:a16="http://schemas.microsoft.com/office/drawing/2014/main" id="{83B31DB4-CA74-E3DA-7C03-8B6BB7452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91175" y="2057456"/>
            <a:ext cx="424585" cy="42458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AF7E85-8C64-F2B6-0602-B5EEF0A2450F}"/>
              </a:ext>
            </a:extLst>
          </p:cNvPr>
          <p:cNvCxnSpPr>
            <a:cxnSpLocks/>
          </p:cNvCxnSpPr>
          <p:nvPr/>
        </p:nvCxnSpPr>
        <p:spPr>
          <a:xfrm flipH="1">
            <a:off x="2339197" y="1599974"/>
            <a:ext cx="36231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64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3C30-C274-27EF-A14F-BC28DEEB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93EA93-70BB-DD98-FF7F-A59149E983D2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69AE96-5540-D8FD-7465-D41781D0CECC}"/>
              </a:ext>
            </a:extLst>
          </p:cNvPr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 Units — Key Statistics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06F71C-BB50-3AD7-84E6-E51DF387C8C0}"/>
              </a:ext>
            </a:extLst>
          </p:cNvPr>
          <p:cNvSpPr/>
          <p:nvPr/>
        </p:nvSpPr>
        <p:spPr>
          <a:xfrm>
            <a:off x="320040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71FB57-D7ED-FA74-2C22-1A9123D8E369}"/>
              </a:ext>
            </a:extLst>
          </p:cNvPr>
          <p:cNvSpPr/>
          <p:nvPr/>
        </p:nvSpPr>
        <p:spPr>
          <a:xfrm>
            <a:off x="320040" y="548640"/>
            <a:ext cx="2816352" cy="64008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47C5C9-70F6-C1D5-58D3-4BDB6259C42B}"/>
              </a:ext>
            </a:extLst>
          </p:cNvPr>
          <p:cNvSpPr/>
          <p:nvPr/>
        </p:nvSpPr>
        <p:spPr>
          <a:xfrm>
            <a:off x="411480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10,761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8FF389-D6DE-5EC4-9F04-5F9713D38A5D}"/>
              </a:ext>
            </a:extLst>
          </p:cNvPr>
          <p:cNvSpPr/>
          <p:nvPr/>
        </p:nvSpPr>
        <p:spPr>
          <a:xfrm>
            <a:off x="393192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Tourist Units (2025)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81BC81-FF9D-358A-2D9A-2598F9404190}"/>
              </a:ext>
            </a:extLst>
          </p:cNvPr>
          <p:cNvSpPr/>
          <p:nvPr/>
        </p:nvSpPr>
        <p:spPr>
          <a:xfrm>
            <a:off x="393192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baseline: 11,180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31F5F61-36F8-0DDA-0806-43BCCC5A9B54}"/>
              </a:ext>
            </a:extLst>
          </p:cNvPr>
          <p:cNvSpPr/>
          <p:nvPr/>
        </p:nvSpPr>
        <p:spPr>
          <a:xfrm>
            <a:off x="3255264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A48FA1-8127-20F1-BDC7-CAE7CF56ACCB}"/>
              </a:ext>
            </a:extLst>
          </p:cNvPr>
          <p:cNvSpPr/>
          <p:nvPr/>
        </p:nvSpPr>
        <p:spPr>
          <a:xfrm>
            <a:off x="3255264" y="548640"/>
            <a:ext cx="2816352" cy="64008"/>
          </a:xfrm>
          <a:prstGeom prst="rect">
            <a:avLst/>
          </a:prstGeom>
          <a:solidFill>
            <a:srgbClr val="0D5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4C0317-D3E7-E23B-B863-24046FE28444}"/>
              </a:ext>
            </a:extLst>
          </p:cNvPr>
          <p:cNvSpPr/>
          <p:nvPr/>
        </p:nvSpPr>
        <p:spPr>
          <a:xfrm>
            <a:off x="3346704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5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-419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0E5968-84DC-A5A8-BB1C-1E72400CB3F4}"/>
              </a:ext>
            </a:extLst>
          </p:cNvPr>
          <p:cNvSpPr/>
          <p:nvPr/>
        </p:nvSpPr>
        <p:spPr>
          <a:xfrm>
            <a:off x="3328416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2012–2025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4087C3-1C01-46C6-D8CB-8B8C1A8F199E}"/>
              </a:ext>
            </a:extLst>
          </p:cNvPr>
          <p:cNvSpPr/>
          <p:nvPr/>
        </p:nvSpPr>
        <p:spPr>
          <a:xfrm>
            <a:off x="3328416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-3.7% over 13 years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DD7239A-A950-C6C8-F3E8-BF60284F6EC7}"/>
              </a:ext>
            </a:extLst>
          </p:cNvPr>
          <p:cNvSpPr/>
          <p:nvPr/>
        </p:nvSpPr>
        <p:spPr>
          <a:xfrm>
            <a:off x="6190488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85D6536-4573-E42E-902B-A6F1CDF81A01}"/>
              </a:ext>
            </a:extLst>
          </p:cNvPr>
          <p:cNvSpPr/>
          <p:nvPr/>
        </p:nvSpPr>
        <p:spPr>
          <a:xfrm>
            <a:off x="6190488" y="548640"/>
            <a:ext cx="2816352" cy="64008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1A926B-D504-64A9-BA7E-7EAE3CD1871A}"/>
              </a:ext>
            </a:extLst>
          </p:cNvPr>
          <p:cNvSpPr/>
          <p:nvPr/>
        </p:nvSpPr>
        <p:spPr>
          <a:xfrm>
            <a:off x="6281928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-32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26E936-2562-900E-2B92-62E73E8FE8BD}"/>
              </a:ext>
            </a:extLst>
          </p:cNvPr>
          <p:cNvSpPr/>
          <p:nvPr/>
        </p:nvSpPr>
        <p:spPr>
          <a:xfrm>
            <a:off x="6263640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Net Change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39E659-20F0-8C89-8C86-1CF4E016AB0F}"/>
              </a:ext>
            </a:extLst>
          </p:cNvPr>
          <p:cNvSpPr/>
          <p:nvPr/>
        </p:nvSpPr>
        <p:spPr>
          <a:xfrm>
            <a:off x="6263640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year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87CE12B-AAC3-3D95-5737-BB8B9F0170E4}"/>
              </a:ext>
            </a:extLst>
          </p:cNvPr>
          <p:cNvSpPr/>
          <p:nvPr/>
        </p:nvSpPr>
        <p:spPr>
          <a:xfrm>
            <a:off x="5765122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44D1F6C-C38B-21FC-E1D6-048F1BD4D643}"/>
              </a:ext>
            </a:extLst>
          </p:cNvPr>
          <p:cNvSpPr/>
          <p:nvPr/>
        </p:nvSpPr>
        <p:spPr>
          <a:xfrm>
            <a:off x="5765122" y="2048256"/>
            <a:ext cx="2084832" cy="64008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262B6A7-3D86-1EEE-9B6E-3D6FB2CB69E0}"/>
              </a:ext>
            </a:extLst>
          </p:cNvPr>
          <p:cNvSpPr/>
          <p:nvPr/>
        </p:nvSpPr>
        <p:spPr>
          <a:xfrm>
            <a:off x="5856562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+154</a:t>
            </a:r>
            <a:endParaRPr lang="en-US" sz="3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458F6CF-E29C-B9FF-C03E-E2FB21654BAF}"/>
              </a:ext>
            </a:extLst>
          </p:cNvPr>
          <p:cNvSpPr/>
          <p:nvPr/>
        </p:nvSpPr>
        <p:spPr>
          <a:xfrm>
            <a:off x="5838274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Growth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5E1BE3-3F89-F35D-A237-EE55BEED634E}"/>
              </a:ext>
            </a:extLst>
          </p:cNvPr>
          <p:cNvSpPr/>
          <p:nvPr/>
        </p:nvSpPr>
        <p:spPr>
          <a:xfrm>
            <a:off x="5838274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571458C-87BF-F3A2-F9C6-50DF831CF7C3}"/>
              </a:ext>
            </a:extLst>
          </p:cNvPr>
          <p:cNvSpPr/>
          <p:nvPr/>
        </p:nvSpPr>
        <p:spPr>
          <a:xfrm>
            <a:off x="1412578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0B90D23-ADE3-B395-4A7D-82C96328087D}"/>
              </a:ext>
            </a:extLst>
          </p:cNvPr>
          <p:cNvSpPr/>
          <p:nvPr/>
        </p:nvSpPr>
        <p:spPr>
          <a:xfrm>
            <a:off x="1412578" y="2048256"/>
            <a:ext cx="2084832" cy="64008"/>
          </a:xfrm>
          <a:prstGeom prst="rect">
            <a:avLst/>
          </a:prstGeom>
          <a:solidFill>
            <a:srgbClr val="6B7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37BF45A-AA4B-E69F-53A8-0F177C3D9EBC}"/>
              </a:ext>
            </a:extLst>
          </p:cNvPr>
          <p:cNvSpPr/>
          <p:nvPr/>
        </p:nvSpPr>
        <p:spPr>
          <a:xfrm>
            <a:off x="1504018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+211</a:t>
            </a:r>
            <a:endParaRPr lang="en-US" sz="3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7D345B3-E1B8-98F0-38F3-36A73613E939}"/>
              </a:ext>
            </a:extLst>
          </p:cNvPr>
          <p:cNvSpPr/>
          <p:nvPr/>
        </p:nvSpPr>
        <p:spPr>
          <a:xfrm>
            <a:off x="1485730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Additions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2A8EEE2-980E-E448-221B-A2B656E94B6E}"/>
              </a:ext>
            </a:extLst>
          </p:cNvPr>
          <p:cNvSpPr/>
          <p:nvPr/>
        </p:nvSpPr>
        <p:spPr>
          <a:xfrm>
            <a:off x="1485730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437591F-9D36-789A-5B52-1FA707B3714D}"/>
              </a:ext>
            </a:extLst>
          </p:cNvPr>
          <p:cNvSpPr/>
          <p:nvPr/>
        </p:nvSpPr>
        <p:spPr>
          <a:xfrm>
            <a:off x="3588850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6AA6AFE-523E-F3CB-E169-EBAC071FD0F9}"/>
              </a:ext>
            </a:extLst>
          </p:cNvPr>
          <p:cNvSpPr/>
          <p:nvPr/>
        </p:nvSpPr>
        <p:spPr>
          <a:xfrm>
            <a:off x="3588850" y="2048256"/>
            <a:ext cx="2084832" cy="64008"/>
          </a:xfrm>
          <a:prstGeom prst="rect">
            <a:avLst/>
          </a:prstGeom>
          <a:solidFill>
            <a:srgbClr val="7A79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7B09411-88C0-2F15-16BF-75B1798D7E2D}"/>
              </a:ext>
            </a:extLst>
          </p:cNvPr>
          <p:cNvSpPr/>
          <p:nvPr/>
        </p:nvSpPr>
        <p:spPr>
          <a:xfrm>
            <a:off x="3680290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−630</a:t>
            </a:r>
            <a:endParaRPr lang="en-US" sz="3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20CED07-43C6-2397-C3CA-A1EBC8AE9FFA}"/>
              </a:ext>
            </a:extLst>
          </p:cNvPr>
          <p:cNvSpPr/>
          <p:nvPr/>
        </p:nvSpPr>
        <p:spPr>
          <a:xfrm>
            <a:off x="3662002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Deductions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3A6B14F-95D7-EE6B-8CAB-6B30B7C0A8D8}"/>
              </a:ext>
            </a:extLst>
          </p:cNvPr>
          <p:cNvSpPr/>
          <p:nvPr/>
        </p:nvSpPr>
        <p:spPr>
          <a:xfrm>
            <a:off x="3662002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9F602DA-F803-D351-01B0-35527DF12AD1}"/>
              </a:ext>
            </a:extLst>
          </p:cNvPr>
          <p:cNvSpPr/>
          <p:nvPr/>
        </p:nvSpPr>
        <p:spPr>
          <a:xfrm>
            <a:off x="320040" y="3739557"/>
            <a:ext cx="8595360" cy="172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C9C5E43-42A8-1932-86D2-D7130E8990CE}"/>
              </a:ext>
            </a:extLst>
          </p:cNvPr>
          <p:cNvSpPr/>
          <p:nvPr/>
        </p:nvSpPr>
        <p:spPr>
          <a:xfrm>
            <a:off x="365760" y="4032165"/>
            <a:ext cx="84582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units at Edgewood and </a:t>
            </a:r>
            <a:r>
              <a:rPr lang="en-US" sz="1200" dirty="0" err="1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Zalanta</a:t>
            </a: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offset by large scale removals: Knights Inn, Lakeside Inn, Motel 6, Sunray Motel</a:t>
            </a: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Tourist Units have been removed and converted to other types of development  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246B594-5884-9301-2924-BA14F323267D}"/>
              </a:ext>
            </a:extLst>
          </p:cNvPr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(TRPA), 2026 Cumulative Accounting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0507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F675-3329-D303-4EA0-7229E71F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C6394F-9BFF-6064-0F97-3BFE386D8450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F6D06F-12AA-7963-5AA4-2CC87EBAB054}"/>
              </a:ext>
            </a:extLst>
          </p:cNvPr>
          <p:cNvSpPr/>
          <p:nvPr/>
        </p:nvSpPr>
        <p:spPr>
          <a:xfrm>
            <a:off x="256032" y="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 Floor Area — Key Statistics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108DA0-A1EC-6CD8-A94C-F43585B643B3}"/>
              </a:ext>
            </a:extLst>
          </p:cNvPr>
          <p:cNvSpPr/>
          <p:nvPr/>
        </p:nvSpPr>
        <p:spPr>
          <a:xfrm>
            <a:off x="320040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18921D-D997-F4B1-DBA1-D90162E682DF}"/>
              </a:ext>
            </a:extLst>
          </p:cNvPr>
          <p:cNvSpPr/>
          <p:nvPr/>
        </p:nvSpPr>
        <p:spPr>
          <a:xfrm>
            <a:off x="320040" y="548640"/>
            <a:ext cx="2816352" cy="64008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DB7641-CA17-B9D3-D979-008526AEFC00}"/>
              </a:ext>
            </a:extLst>
          </p:cNvPr>
          <p:cNvSpPr/>
          <p:nvPr/>
        </p:nvSpPr>
        <p:spPr>
          <a:xfrm>
            <a:off x="411480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6,583,769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ED880E-E8BE-FBD8-CAE0-60A85D02325E}"/>
              </a:ext>
            </a:extLst>
          </p:cNvPr>
          <p:cNvSpPr/>
          <p:nvPr/>
        </p:nvSpPr>
        <p:spPr>
          <a:xfrm>
            <a:off x="393192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Commercial Floor Area (2025)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74B44F-095E-303C-7BCF-480A256998A4}"/>
              </a:ext>
            </a:extLst>
          </p:cNvPr>
          <p:cNvSpPr/>
          <p:nvPr/>
        </p:nvSpPr>
        <p:spPr>
          <a:xfrm>
            <a:off x="393192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baseline: 6,592,644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C665D7-7DE3-FCB2-C71A-3AB9F94DFA46}"/>
              </a:ext>
            </a:extLst>
          </p:cNvPr>
          <p:cNvSpPr/>
          <p:nvPr/>
        </p:nvSpPr>
        <p:spPr>
          <a:xfrm>
            <a:off x="3255264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769152-60D4-53CB-9C80-F72E8241CF8C}"/>
              </a:ext>
            </a:extLst>
          </p:cNvPr>
          <p:cNvSpPr/>
          <p:nvPr/>
        </p:nvSpPr>
        <p:spPr>
          <a:xfrm>
            <a:off x="3255264" y="548640"/>
            <a:ext cx="2816352" cy="64008"/>
          </a:xfrm>
          <a:prstGeom prst="rect">
            <a:avLst/>
          </a:prstGeom>
          <a:solidFill>
            <a:srgbClr val="0D5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453E70-2A38-6507-9C72-1453CF0378F0}"/>
              </a:ext>
            </a:extLst>
          </p:cNvPr>
          <p:cNvSpPr/>
          <p:nvPr/>
        </p:nvSpPr>
        <p:spPr>
          <a:xfrm>
            <a:off x="3346704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5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+1,850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87AD9F-4731-4899-C68C-362CA054551A}"/>
              </a:ext>
            </a:extLst>
          </p:cNvPr>
          <p:cNvSpPr/>
          <p:nvPr/>
        </p:nvSpPr>
        <p:spPr>
          <a:xfrm>
            <a:off x="3328416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2012–2025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372EDB-7721-4425-551A-5361855060EB}"/>
              </a:ext>
            </a:extLst>
          </p:cNvPr>
          <p:cNvSpPr/>
          <p:nvPr/>
        </p:nvSpPr>
        <p:spPr>
          <a:xfrm>
            <a:off x="3328416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 over 13 years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150E825-2D31-175C-AA61-39B628993FF6}"/>
              </a:ext>
            </a:extLst>
          </p:cNvPr>
          <p:cNvSpPr/>
          <p:nvPr/>
        </p:nvSpPr>
        <p:spPr>
          <a:xfrm>
            <a:off x="6190488" y="5486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4367712-3052-72D2-80FD-30DBFE13D646}"/>
              </a:ext>
            </a:extLst>
          </p:cNvPr>
          <p:cNvSpPr/>
          <p:nvPr/>
        </p:nvSpPr>
        <p:spPr>
          <a:xfrm>
            <a:off x="6190488" y="548640"/>
            <a:ext cx="2816352" cy="64008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9ABC22B-A9E7-B376-44FC-42960385D503}"/>
              </a:ext>
            </a:extLst>
          </p:cNvPr>
          <p:cNvSpPr/>
          <p:nvPr/>
        </p:nvSpPr>
        <p:spPr>
          <a:xfrm>
            <a:off x="6281928" y="62179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+142</a:t>
            </a:r>
            <a:endParaRPr lang="en-US" sz="3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40060C-5D41-3DB2-9B7E-AF42586A3E3A}"/>
              </a:ext>
            </a:extLst>
          </p:cNvPr>
          <p:cNvSpPr/>
          <p:nvPr/>
        </p:nvSpPr>
        <p:spPr>
          <a:xfrm>
            <a:off x="6263640" y="1289304"/>
            <a:ext cx="2670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Net Change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7D9CB3-7BE1-C5BB-45D6-3D0B3381EB0D}"/>
              </a:ext>
            </a:extLst>
          </p:cNvPr>
          <p:cNvSpPr/>
          <p:nvPr/>
        </p:nvSpPr>
        <p:spPr>
          <a:xfrm>
            <a:off x="6263640" y="1632204"/>
            <a:ext cx="2670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feet per year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44DDF12-A61F-D01E-490B-CA9C1794CE85}"/>
              </a:ext>
            </a:extLst>
          </p:cNvPr>
          <p:cNvSpPr/>
          <p:nvPr/>
        </p:nvSpPr>
        <p:spPr>
          <a:xfrm>
            <a:off x="5765122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2C37F99-5FA9-8400-6756-F99996026B58}"/>
              </a:ext>
            </a:extLst>
          </p:cNvPr>
          <p:cNvSpPr/>
          <p:nvPr/>
        </p:nvSpPr>
        <p:spPr>
          <a:xfrm>
            <a:off x="5765122" y="2048256"/>
            <a:ext cx="2084832" cy="64008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A6604EA-63D7-F775-0C6B-2099F365B051}"/>
              </a:ext>
            </a:extLst>
          </p:cNvPr>
          <p:cNvSpPr/>
          <p:nvPr/>
        </p:nvSpPr>
        <p:spPr>
          <a:xfrm>
            <a:off x="5856562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+48K</a:t>
            </a:r>
            <a:endParaRPr lang="en-US" sz="3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B86CB53-9578-122E-841C-B37D7DFAEB20}"/>
              </a:ext>
            </a:extLst>
          </p:cNvPr>
          <p:cNvSpPr/>
          <p:nvPr/>
        </p:nvSpPr>
        <p:spPr>
          <a:xfrm>
            <a:off x="5838274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 Growth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25E2D1F-65DE-9A34-5C5A-5469D96DE88C}"/>
              </a:ext>
            </a:extLst>
          </p:cNvPr>
          <p:cNvSpPr/>
          <p:nvPr/>
        </p:nvSpPr>
        <p:spPr>
          <a:xfrm>
            <a:off x="5838274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598DD2-0DF4-2C84-C465-9AF00A958671}"/>
              </a:ext>
            </a:extLst>
          </p:cNvPr>
          <p:cNvSpPr/>
          <p:nvPr/>
        </p:nvSpPr>
        <p:spPr>
          <a:xfrm>
            <a:off x="1412578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8B12F8A-2560-627E-61C6-931A270576BE}"/>
              </a:ext>
            </a:extLst>
          </p:cNvPr>
          <p:cNvSpPr/>
          <p:nvPr/>
        </p:nvSpPr>
        <p:spPr>
          <a:xfrm>
            <a:off x="1412578" y="2048256"/>
            <a:ext cx="2084832" cy="64008"/>
          </a:xfrm>
          <a:prstGeom prst="rect">
            <a:avLst/>
          </a:prstGeom>
          <a:solidFill>
            <a:srgbClr val="6B7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A35AF4-40F9-3B34-1FA6-C5E489AAACE6}"/>
              </a:ext>
            </a:extLst>
          </p:cNvPr>
          <p:cNvSpPr/>
          <p:nvPr/>
        </p:nvSpPr>
        <p:spPr>
          <a:xfrm>
            <a:off x="1504018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+185K</a:t>
            </a:r>
            <a:endParaRPr lang="en-US" sz="3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199328E-01D3-6D99-655F-392423384217}"/>
              </a:ext>
            </a:extLst>
          </p:cNvPr>
          <p:cNvSpPr/>
          <p:nvPr/>
        </p:nvSpPr>
        <p:spPr>
          <a:xfrm>
            <a:off x="1485730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Additions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FE5FF0F-7938-C725-64E9-584610EBDFB4}"/>
              </a:ext>
            </a:extLst>
          </p:cNvPr>
          <p:cNvSpPr/>
          <p:nvPr/>
        </p:nvSpPr>
        <p:spPr>
          <a:xfrm>
            <a:off x="1485730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5D8F967-5A42-840E-068F-D2E9BF7D2F78}"/>
              </a:ext>
            </a:extLst>
          </p:cNvPr>
          <p:cNvSpPr/>
          <p:nvPr/>
        </p:nvSpPr>
        <p:spPr>
          <a:xfrm>
            <a:off x="3588850" y="2048256"/>
            <a:ext cx="20848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56F3330-1C44-F67C-A8AF-93B3B2A0DA2E}"/>
              </a:ext>
            </a:extLst>
          </p:cNvPr>
          <p:cNvSpPr/>
          <p:nvPr/>
        </p:nvSpPr>
        <p:spPr>
          <a:xfrm>
            <a:off x="3588850" y="2048256"/>
            <a:ext cx="2084832" cy="64008"/>
          </a:xfrm>
          <a:prstGeom prst="rect">
            <a:avLst/>
          </a:prstGeom>
          <a:solidFill>
            <a:srgbClr val="7A79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38EC2B2-B844-5BF1-0AF0-DA1629E6563F}"/>
              </a:ext>
            </a:extLst>
          </p:cNvPr>
          <p:cNvSpPr/>
          <p:nvPr/>
        </p:nvSpPr>
        <p:spPr>
          <a:xfrm>
            <a:off x="3680290" y="2121408"/>
            <a:ext cx="1901952" cy="61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−183K</a:t>
            </a:r>
            <a:endParaRPr lang="en-US" sz="3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9FECB36-C3CA-6A56-A5CF-99C57785B8E9}"/>
              </a:ext>
            </a:extLst>
          </p:cNvPr>
          <p:cNvSpPr/>
          <p:nvPr/>
        </p:nvSpPr>
        <p:spPr>
          <a:xfrm>
            <a:off x="3662002" y="2739542"/>
            <a:ext cx="193852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Deductions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5E2495-476A-B511-4B22-BEAA70F6E4C5}"/>
              </a:ext>
            </a:extLst>
          </p:cNvPr>
          <p:cNvSpPr/>
          <p:nvPr/>
        </p:nvSpPr>
        <p:spPr>
          <a:xfrm>
            <a:off x="3662002" y="3059582"/>
            <a:ext cx="19385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7DF7A90-2A3B-903A-34FF-272D12C2C31E}"/>
              </a:ext>
            </a:extLst>
          </p:cNvPr>
          <p:cNvSpPr/>
          <p:nvPr/>
        </p:nvSpPr>
        <p:spPr>
          <a:xfrm>
            <a:off x="320040" y="3739557"/>
            <a:ext cx="8595360" cy="172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1E3BAC8-7A67-66C3-D316-12CA6D345EA8}"/>
              </a:ext>
            </a:extLst>
          </p:cNvPr>
          <p:cNvSpPr/>
          <p:nvPr/>
        </p:nvSpPr>
        <p:spPr>
          <a:xfrm>
            <a:off x="365760" y="4032165"/>
            <a:ext cx="84582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commercial at Bijou Marketplace and Chateau offset by large scale removals: Lakeside Inn, Tahoe City Lodge </a:t>
            </a: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 square feet of commercial floor area have been removed and converted to other types of development  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2FB3D93-1EF8-CC2C-DAE3-A55977721F47}"/>
              </a:ext>
            </a:extLst>
          </p:cNvPr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(TRPA), 2026 Cumulative Accounting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9431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50F2-CB2A-D182-3188-C77DB605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7">
            <a:extLst>
              <a:ext uri="{FF2B5EF4-FFF2-40B4-BE49-F238E27FC236}">
                <a16:creationId xmlns:a16="http://schemas.microsoft.com/office/drawing/2014/main" id="{DE6892BE-EF04-6DBA-70DF-D4B09D245F36}"/>
              </a:ext>
            </a:extLst>
          </p:cNvPr>
          <p:cNvSpPr/>
          <p:nvPr/>
        </p:nvSpPr>
        <p:spPr>
          <a:xfrm>
            <a:off x="6519672" y="3027555"/>
            <a:ext cx="2361011" cy="120456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0F6C75-6E20-CBFD-6652-65B322A118D6}"/>
              </a:ext>
            </a:extLst>
          </p:cNvPr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A9C0FE-825A-1896-0FF2-FCC0AC84D077}"/>
              </a:ext>
            </a:extLst>
          </p:cNvPr>
          <p:cNvSpPr/>
          <p:nvPr/>
        </p:nvSpPr>
        <p:spPr>
          <a:xfrm>
            <a:off x="210312" y="67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Plan Additional Development Overview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585A59-2AD8-A880-4DAE-7BA5A5393739}"/>
              </a:ext>
            </a:extLst>
          </p:cNvPr>
          <p:cNvSpPr/>
          <p:nvPr/>
        </p:nvSpPr>
        <p:spPr>
          <a:xfrm>
            <a:off x="320040" y="3027555"/>
            <a:ext cx="1975104" cy="1212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1A80B0-A0FE-ECFB-8F4A-19978ED8E871}"/>
              </a:ext>
            </a:extLst>
          </p:cNvPr>
          <p:cNvSpPr/>
          <p:nvPr/>
        </p:nvSpPr>
        <p:spPr>
          <a:xfrm>
            <a:off x="320040" y="3027555"/>
            <a:ext cx="1975104" cy="64008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6D9F1A-D91B-5B88-3837-72A8EED6C363}"/>
              </a:ext>
            </a:extLst>
          </p:cNvPr>
          <p:cNvSpPr/>
          <p:nvPr/>
        </p:nvSpPr>
        <p:spPr>
          <a:xfrm>
            <a:off x="411480" y="3100707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E9518C-16DF-1FC4-F576-1F6DCFE9A092}"/>
              </a:ext>
            </a:extLst>
          </p:cNvPr>
          <p:cNvSpPr/>
          <p:nvPr/>
        </p:nvSpPr>
        <p:spPr>
          <a:xfrm>
            <a:off x="420624" y="3670885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Allocations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E3EC4C-C5C5-4728-C503-66B667361659}"/>
              </a:ext>
            </a:extLst>
          </p:cNvPr>
          <p:cNvSpPr/>
          <p:nvPr/>
        </p:nvSpPr>
        <p:spPr>
          <a:xfrm>
            <a:off x="420624" y="4018357"/>
            <a:ext cx="182880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6,731 of 8,687 units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1537B9-BD63-71FC-C55C-81DA6ADC6C72}"/>
              </a:ext>
            </a:extLst>
          </p:cNvPr>
          <p:cNvSpPr/>
          <p:nvPr/>
        </p:nvSpPr>
        <p:spPr>
          <a:xfrm>
            <a:off x="2386584" y="3027555"/>
            <a:ext cx="1975104" cy="1212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2E37C7-0135-39E2-0285-57C21EB8947D}"/>
              </a:ext>
            </a:extLst>
          </p:cNvPr>
          <p:cNvSpPr/>
          <p:nvPr/>
        </p:nvSpPr>
        <p:spPr>
          <a:xfrm>
            <a:off x="2386584" y="3027555"/>
            <a:ext cx="1975104" cy="64008"/>
          </a:xfrm>
          <a:prstGeom prst="rect">
            <a:avLst/>
          </a:prstGeom>
          <a:solidFill>
            <a:srgbClr val="0D5F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A02B96-13A3-C8EA-256B-603379E4816A}"/>
              </a:ext>
            </a:extLst>
          </p:cNvPr>
          <p:cNvSpPr/>
          <p:nvPr/>
        </p:nvSpPr>
        <p:spPr>
          <a:xfrm>
            <a:off x="2478024" y="3100707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5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A7CAD0-B751-D3F7-264C-28E0B65C4DD6}"/>
              </a:ext>
            </a:extLst>
          </p:cNvPr>
          <p:cNvSpPr/>
          <p:nvPr/>
        </p:nvSpPr>
        <p:spPr>
          <a:xfrm>
            <a:off x="2487168" y="3670885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Bonus Units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B2C32D-BFD5-F0EC-F3D2-8536C87262BB}"/>
              </a:ext>
            </a:extLst>
          </p:cNvPr>
          <p:cNvSpPr/>
          <p:nvPr/>
        </p:nvSpPr>
        <p:spPr>
          <a:xfrm>
            <a:off x="2487168" y="4018357"/>
            <a:ext cx="182880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of 2,000 units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0F86B9A-0438-7515-A5BC-7C49B97D1317}"/>
              </a:ext>
            </a:extLst>
          </p:cNvPr>
          <p:cNvSpPr/>
          <p:nvPr/>
        </p:nvSpPr>
        <p:spPr>
          <a:xfrm>
            <a:off x="4453128" y="3027555"/>
            <a:ext cx="1975104" cy="1212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4DE6E6-234F-874D-FB9C-65E7730C3F4E}"/>
              </a:ext>
            </a:extLst>
          </p:cNvPr>
          <p:cNvSpPr/>
          <p:nvPr/>
        </p:nvSpPr>
        <p:spPr>
          <a:xfrm>
            <a:off x="4453128" y="3027555"/>
            <a:ext cx="1975104" cy="64008"/>
          </a:xfrm>
          <a:prstGeom prst="rect">
            <a:avLst/>
          </a:prstGeom>
          <a:solidFill>
            <a:srgbClr val="6B7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FC9FB4-9B1C-9545-1729-B7F262241849}"/>
              </a:ext>
            </a:extLst>
          </p:cNvPr>
          <p:cNvSpPr/>
          <p:nvPr/>
        </p:nvSpPr>
        <p:spPr>
          <a:xfrm>
            <a:off x="4544568" y="3100707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99D7A0-02E9-030C-2F1D-164FE8CC7E27}"/>
              </a:ext>
            </a:extLst>
          </p:cNvPr>
          <p:cNvSpPr/>
          <p:nvPr/>
        </p:nvSpPr>
        <p:spPr>
          <a:xfrm>
            <a:off x="4553712" y="3670885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Bonus Units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CFE9A5-A36A-4B6C-D172-05B2A604C1B4}"/>
              </a:ext>
            </a:extLst>
          </p:cNvPr>
          <p:cNvSpPr/>
          <p:nvPr/>
        </p:nvSpPr>
        <p:spPr>
          <a:xfrm>
            <a:off x="4553712" y="4018357"/>
            <a:ext cx="182880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of 400 units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A830490-5B64-A5A2-F41E-0824877ACBC8}"/>
              </a:ext>
            </a:extLst>
          </p:cNvPr>
          <p:cNvSpPr/>
          <p:nvPr/>
        </p:nvSpPr>
        <p:spPr>
          <a:xfrm>
            <a:off x="6519671" y="3027555"/>
            <a:ext cx="2347197" cy="73152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CF33763-0A48-9825-004F-388839F7B003}"/>
              </a:ext>
            </a:extLst>
          </p:cNvPr>
          <p:cNvSpPr/>
          <p:nvPr/>
        </p:nvSpPr>
        <p:spPr>
          <a:xfrm>
            <a:off x="6850619" y="3091497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46%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FA1FA14-73F8-5ADE-235B-4692CF0947AE}"/>
              </a:ext>
            </a:extLst>
          </p:cNvPr>
          <p:cNvSpPr/>
          <p:nvPr/>
        </p:nvSpPr>
        <p:spPr>
          <a:xfrm>
            <a:off x="6814043" y="3667458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Floor Area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AE23A12-BBD0-6F39-0C13-D76B637283FE}"/>
              </a:ext>
            </a:extLst>
          </p:cNvPr>
          <p:cNvSpPr/>
          <p:nvPr/>
        </p:nvSpPr>
        <p:spPr>
          <a:xfrm>
            <a:off x="6814043" y="4014930"/>
            <a:ext cx="1828800" cy="25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464K of 1.0M sq ft</a:t>
            </a:r>
            <a:endParaRPr lang="en-US" sz="9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8F281CA-EBEE-2BFD-4D7E-DFC5E614A7F6}"/>
              </a:ext>
            </a:extLst>
          </p:cNvPr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 · Lake Tahoe Regional Plan, 2026 Cumulative Accounting</a:t>
            </a:r>
            <a:endParaRPr lang="en-US" sz="850" dirty="0"/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D5AE205E-6FD1-A3CC-6215-62DB3C23BBCD}"/>
              </a:ext>
            </a:extLst>
          </p:cNvPr>
          <p:cNvSpPr/>
          <p:nvPr/>
        </p:nvSpPr>
        <p:spPr>
          <a:xfrm>
            <a:off x="320040" y="847353"/>
            <a:ext cx="1975104" cy="1495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6B394FA3-31D1-2462-DC31-F92B4FE8FF3F}"/>
              </a:ext>
            </a:extLst>
          </p:cNvPr>
          <p:cNvSpPr/>
          <p:nvPr/>
        </p:nvSpPr>
        <p:spPr>
          <a:xfrm>
            <a:off x="320040" y="840581"/>
            <a:ext cx="1975104" cy="64008"/>
          </a:xfrm>
          <a:prstGeom prst="rect">
            <a:avLst/>
          </a:prstGeom>
          <a:solidFill>
            <a:srgbClr val="20808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0B895F70-694F-1DB4-5E42-B0FC8A3A8A9A}"/>
              </a:ext>
            </a:extLst>
          </p:cNvPr>
          <p:cNvSpPr/>
          <p:nvPr/>
        </p:nvSpPr>
        <p:spPr>
          <a:xfrm>
            <a:off x="411480" y="1508886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0808D"/>
                </a:solidFill>
                <a:latin typeface="Trebuchet MS" pitchFamily="34" charset="0"/>
              </a:rPr>
              <a:t>8,687</a:t>
            </a:r>
            <a:endParaRPr lang="en-US" sz="400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911948B6-E9E8-A44A-8234-23E25FC27223}"/>
              </a:ext>
            </a:extLst>
          </p:cNvPr>
          <p:cNvSpPr/>
          <p:nvPr/>
        </p:nvSpPr>
        <p:spPr>
          <a:xfrm>
            <a:off x="2386584" y="847352"/>
            <a:ext cx="1975104" cy="1495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285F4145-4D3F-FDDD-A817-EEFEFB999239}"/>
              </a:ext>
            </a:extLst>
          </p:cNvPr>
          <p:cNvSpPr/>
          <p:nvPr/>
        </p:nvSpPr>
        <p:spPr>
          <a:xfrm>
            <a:off x="2386584" y="840581"/>
            <a:ext cx="1975104" cy="64008"/>
          </a:xfrm>
          <a:prstGeom prst="rect">
            <a:avLst/>
          </a:prstGeom>
          <a:solidFill>
            <a:srgbClr val="0D5F6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EE4849F5-8EEE-2AE8-4362-80958D2602DE}"/>
              </a:ext>
            </a:extLst>
          </p:cNvPr>
          <p:cNvSpPr/>
          <p:nvPr/>
        </p:nvSpPr>
        <p:spPr>
          <a:xfrm>
            <a:off x="2496312" y="1508886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5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4000" dirty="0"/>
          </a:p>
        </p:txBody>
      </p:sp>
      <p:sp>
        <p:nvSpPr>
          <p:cNvPr id="62" name="Shape 12">
            <a:extLst>
              <a:ext uri="{FF2B5EF4-FFF2-40B4-BE49-F238E27FC236}">
                <a16:creationId xmlns:a16="http://schemas.microsoft.com/office/drawing/2014/main" id="{05F6C093-AAB3-4EA8-E3F0-1657F643C61D}"/>
              </a:ext>
            </a:extLst>
          </p:cNvPr>
          <p:cNvSpPr/>
          <p:nvPr/>
        </p:nvSpPr>
        <p:spPr>
          <a:xfrm>
            <a:off x="4453128" y="847353"/>
            <a:ext cx="1975104" cy="149594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AF6DFFAE-CEF8-06DB-C8CC-7A5E438FD796}"/>
              </a:ext>
            </a:extLst>
          </p:cNvPr>
          <p:cNvSpPr/>
          <p:nvPr/>
        </p:nvSpPr>
        <p:spPr>
          <a:xfrm>
            <a:off x="4453128" y="840581"/>
            <a:ext cx="1975104" cy="64008"/>
          </a:xfrm>
          <a:prstGeom prst="rect">
            <a:avLst/>
          </a:prstGeom>
          <a:solidFill>
            <a:srgbClr val="6B7A3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4A72E176-0B04-7155-4A0E-6BCB30D142F5}"/>
              </a:ext>
            </a:extLst>
          </p:cNvPr>
          <p:cNvSpPr/>
          <p:nvPr/>
        </p:nvSpPr>
        <p:spPr>
          <a:xfrm>
            <a:off x="4544568" y="1508886"/>
            <a:ext cx="1792224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7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</a:t>
            </a:r>
            <a:endParaRPr lang="en-US" sz="400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2037A26A-C0D4-997B-42AF-C754E40DED37}"/>
              </a:ext>
            </a:extLst>
          </p:cNvPr>
          <p:cNvSpPr/>
          <p:nvPr/>
        </p:nvSpPr>
        <p:spPr>
          <a:xfrm>
            <a:off x="6519671" y="847352"/>
            <a:ext cx="2361011" cy="149595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blurRad="63500" dist="25400" dir="90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C455F597-E238-7E72-03D3-0F757BD7B89F}"/>
              </a:ext>
            </a:extLst>
          </p:cNvPr>
          <p:cNvSpPr/>
          <p:nvPr/>
        </p:nvSpPr>
        <p:spPr>
          <a:xfrm>
            <a:off x="6519671" y="840580"/>
            <a:ext cx="2347198" cy="64009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28D621D3-1D93-5D97-7C68-923B8720BA78}"/>
              </a:ext>
            </a:extLst>
          </p:cNvPr>
          <p:cNvSpPr/>
          <p:nvPr/>
        </p:nvSpPr>
        <p:spPr>
          <a:xfrm>
            <a:off x="6466210" y="1503184"/>
            <a:ext cx="2454118" cy="6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1,000,000</a:t>
            </a:r>
            <a:endParaRPr lang="en-US" sz="3600" dirty="0"/>
          </a:p>
        </p:txBody>
      </p:sp>
      <p:sp>
        <p:nvSpPr>
          <p:cNvPr id="76" name="Text 5">
            <a:extLst>
              <a:ext uri="{FF2B5EF4-FFF2-40B4-BE49-F238E27FC236}">
                <a16:creationId xmlns:a16="http://schemas.microsoft.com/office/drawing/2014/main" id="{9EEAE772-D108-514C-1C8C-4964DBD2B62C}"/>
              </a:ext>
            </a:extLst>
          </p:cNvPr>
          <p:cNvSpPr/>
          <p:nvPr/>
        </p:nvSpPr>
        <p:spPr>
          <a:xfrm>
            <a:off x="420624" y="986083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rgbClr val="4A48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600" b="1" dirty="0"/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9721A827-B5EA-418A-94DC-0FD4D151B168}"/>
              </a:ext>
            </a:extLst>
          </p:cNvPr>
          <p:cNvSpPr/>
          <p:nvPr/>
        </p:nvSpPr>
        <p:spPr>
          <a:xfrm>
            <a:off x="2487168" y="986083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rgbClr val="4A48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Bonus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600" b="1" dirty="0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ED85EC87-732E-64F0-BE77-114FF7FC46C1}"/>
              </a:ext>
            </a:extLst>
          </p:cNvPr>
          <p:cNvSpPr/>
          <p:nvPr/>
        </p:nvSpPr>
        <p:spPr>
          <a:xfrm>
            <a:off x="4553712" y="986083"/>
            <a:ext cx="1828800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rgbClr val="4A48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Bonus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600" b="1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1894081F-7DBC-F7FB-4BF9-FAF04F7DFCBB}"/>
              </a:ext>
            </a:extLst>
          </p:cNvPr>
          <p:cNvSpPr/>
          <p:nvPr/>
        </p:nvSpPr>
        <p:spPr>
          <a:xfrm>
            <a:off x="256032" y="279341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Constructed as of 2025</a:t>
            </a:r>
            <a:endParaRPr lang="en-US" sz="125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D1662634-24CA-8236-5378-AAF5BBA5236D}"/>
              </a:ext>
            </a:extLst>
          </p:cNvPr>
          <p:cNvSpPr/>
          <p:nvPr/>
        </p:nvSpPr>
        <p:spPr>
          <a:xfrm>
            <a:off x="256032" y="515461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Plan Maximum Additional Development</a:t>
            </a:r>
            <a:endParaRPr lang="en-US" sz="125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92753C-0075-488F-0FC7-4684BAED2DBC}"/>
              </a:ext>
            </a:extLst>
          </p:cNvPr>
          <p:cNvSpPr txBox="1"/>
          <p:nvPr/>
        </p:nvSpPr>
        <p:spPr>
          <a:xfrm>
            <a:off x="6726328" y="2105477"/>
            <a:ext cx="191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Feet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192D1D-0189-6741-0FB3-3EAA0D46681A}"/>
              </a:ext>
            </a:extLst>
          </p:cNvPr>
          <p:cNvSpPr txBox="1"/>
          <p:nvPr/>
        </p:nvSpPr>
        <p:spPr>
          <a:xfrm>
            <a:off x="4482422" y="2111140"/>
            <a:ext cx="191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0D688A-6670-0220-E2EE-EE0C08D3E22A}"/>
              </a:ext>
            </a:extLst>
          </p:cNvPr>
          <p:cNvSpPr txBox="1"/>
          <p:nvPr/>
        </p:nvSpPr>
        <p:spPr>
          <a:xfrm>
            <a:off x="2415878" y="2095078"/>
            <a:ext cx="191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D893AC-2C75-B29E-6C1E-74C5F46889AD}"/>
              </a:ext>
            </a:extLst>
          </p:cNvPr>
          <p:cNvSpPr txBox="1"/>
          <p:nvPr/>
        </p:nvSpPr>
        <p:spPr>
          <a:xfrm>
            <a:off x="349335" y="2129784"/>
            <a:ext cx="191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3863AEE9-A51A-9796-9A17-C92C5A4EDA77}"/>
              </a:ext>
            </a:extLst>
          </p:cNvPr>
          <p:cNvSpPr/>
          <p:nvPr/>
        </p:nvSpPr>
        <p:spPr>
          <a:xfrm>
            <a:off x="6586373" y="974639"/>
            <a:ext cx="2196424" cy="21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rgbClr val="4A48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4A4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Floor Area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8000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7C78F9-7086-56BD-18C3-04D772BB9295}"/>
              </a:ext>
            </a:extLst>
          </p:cNvPr>
          <p:cNvSpPr/>
          <p:nvPr/>
        </p:nvSpPr>
        <p:spPr>
          <a:xfrm>
            <a:off x="16798" y="434168"/>
            <a:ext cx="9144000" cy="4716104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C71FDB3-0EC6-16E2-0B41-97EA9DE129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2740574"/>
              </p:ext>
            </p:extLst>
          </p:nvPr>
        </p:nvGraphicFramePr>
        <p:xfrm>
          <a:off x="155448" y="697869"/>
          <a:ext cx="8897112" cy="4073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>
            <a:extLst>
              <a:ext uri="{FF2B5EF4-FFF2-40B4-BE49-F238E27FC236}">
                <a16:creationId xmlns:a16="http://schemas.microsoft.com/office/drawing/2014/main" id="{8662D11E-BC46-D85F-D932-C95C8BD51EA7}"/>
              </a:ext>
            </a:extLst>
          </p:cNvPr>
          <p:cNvSpPr/>
          <p:nvPr/>
        </p:nvSpPr>
        <p:spPr>
          <a:xfrm>
            <a:off x="1" y="0"/>
            <a:ext cx="9144000" cy="420624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9930DBD-0B77-C33D-914C-CFE1B24282F9}"/>
              </a:ext>
            </a:extLst>
          </p:cNvPr>
          <p:cNvSpPr/>
          <p:nvPr/>
        </p:nvSpPr>
        <p:spPr>
          <a:xfrm>
            <a:off x="210313" y="67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Plan Additional Development</a:t>
            </a:r>
            <a:endParaRPr lang="en-US" sz="1400" dirty="0"/>
          </a:p>
        </p:txBody>
      </p:sp>
      <p:sp>
        <p:nvSpPr>
          <p:cNvPr id="8" name="Text 49">
            <a:extLst>
              <a:ext uri="{FF2B5EF4-FFF2-40B4-BE49-F238E27FC236}">
                <a16:creationId xmlns:a16="http://schemas.microsoft.com/office/drawing/2014/main" id="{854711AB-D895-8CD9-6B45-88315AC4CFEA}"/>
              </a:ext>
            </a:extLst>
          </p:cNvPr>
          <p:cNvSpPr/>
          <p:nvPr/>
        </p:nvSpPr>
        <p:spPr>
          <a:xfrm>
            <a:off x="155448" y="48844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 · Lake Tahoe Regional Plan, 2026 Cumulative Accounting</a:t>
            </a:r>
            <a:endParaRPr lang="en-US" sz="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FD071-EB7B-DEA4-5D23-4A079C210765}"/>
              </a:ext>
            </a:extLst>
          </p:cNvPr>
          <p:cNvSpPr txBox="1"/>
          <p:nvPr/>
        </p:nvSpPr>
        <p:spPr>
          <a:xfrm>
            <a:off x="215464" y="1086746"/>
            <a:ext cx="1878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9AAB2"/>
                </a:solidFill>
              </a:rPr>
              <a:t>Residential Allocations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A3615-5A9C-2408-D09B-210A2DE3B958}"/>
              </a:ext>
            </a:extLst>
          </p:cNvPr>
          <p:cNvSpPr txBox="1"/>
          <p:nvPr/>
        </p:nvSpPr>
        <p:spPr>
          <a:xfrm>
            <a:off x="155448" y="1874171"/>
            <a:ext cx="1945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D6E74"/>
                </a:solidFill>
              </a:rPr>
              <a:t>Residential Bonus Units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FE591-0610-14C7-820A-CE7AE95DF378}"/>
              </a:ext>
            </a:extLst>
          </p:cNvPr>
          <p:cNvSpPr txBox="1"/>
          <p:nvPr/>
        </p:nvSpPr>
        <p:spPr>
          <a:xfrm>
            <a:off x="428086" y="2711393"/>
            <a:ext cx="1625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8E9A61"/>
                </a:solidFill>
              </a:rPr>
              <a:t>Tourist Bonus Units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E722D-7E6D-6C7D-4BAA-1707FD628297}"/>
              </a:ext>
            </a:extLst>
          </p:cNvPr>
          <p:cNvSpPr txBox="1"/>
          <p:nvPr/>
        </p:nvSpPr>
        <p:spPr>
          <a:xfrm>
            <a:off x="208604" y="3512445"/>
            <a:ext cx="1884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AE593F"/>
                </a:solidFill>
              </a:rPr>
              <a:t>Commercial Floor Area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5B7961-3F7D-1ABA-0E3D-204AAEAC7D75}"/>
              </a:ext>
            </a:extLst>
          </p:cNvPr>
          <p:cNvSpPr txBox="1"/>
          <p:nvPr/>
        </p:nvSpPr>
        <p:spPr>
          <a:xfrm>
            <a:off x="8126759" y="1098904"/>
            <a:ext cx="1031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Max: 8,687 units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BBD76-F71A-EC67-9EA7-979832C61197}"/>
              </a:ext>
            </a:extLst>
          </p:cNvPr>
          <p:cNvSpPr txBox="1"/>
          <p:nvPr/>
        </p:nvSpPr>
        <p:spPr>
          <a:xfrm>
            <a:off x="8126759" y="1909489"/>
            <a:ext cx="1031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Max: 2,000 units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6DE773-E9F5-B77B-4337-36D676D229CD}"/>
              </a:ext>
            </a:extLst>
          </p:cNvPr>
          <p:cNvSpPr txBox="1"/>
          <p:nvPr/>
        </p:nvSpPr>
        <p:spPr>
          <a:xfrm>
            <a:off x="8126759" y="2772554"/>
            <a:ext cx="1031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Max: 400 units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5B91BC-A6EF-6E6B-CA68-775DBAEFB585}"/>
              </a:ext>
            </a:extLst>
          </p:cNvPr>
          <p:cNvSpPr txBox="1"/>
          <p:nvPr/>
        </p:nvSpPr>
        <p:spPr>
          <a:xfrm>
            <a:off x="8126759" y="3605482"/>
            <a:ext cx="1031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Max:  1.00M sq ft</a:t>
            </a:r>
          </a:p>
        </p:txBody>
      </p:sp>
    </p:spTree>
    <p:extLst>
      <p:ext uri="{BB962C8B-B14F-4D97-AF65-F5344CB8AC3E}">
        <p14:creationId xmlns:p14="http://schemas.microsoft.com/office/powerpoint/2010/main" val="132587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96D4-1657-C793-BACE-57F3891F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C585B9-8244-29B8-8F35-232C59C6C58A}"/>
              </a:ext>
            </a:extLst>
          </p:cNvPr>
          <p:cNvSpPr/>
          <p:nvPr/>
        </p:nvSpPr>
        <p:spPr>
          <a:xfrm>
            <a:off x="16798" y="434168"/>
            <a:ext cx="9144000" cy="4716104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CDBEEAE-C7CC-6324-B6AD-01CFDF5D84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7358437"/>
              </p:ext>
            </p:extLst>
          </p:nvPr>
        </p:nvGraphicFramePr>
        <p:xfrm>
          <a:off x="39899" y="505479"/>
          <a:ext cx="8873008" cy="3991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>
            <a:extLst>
              <a:ext uri="{FF2B5EF4-FFF2-40B4-BE49-F238E27FC236}">
                <a16:creationId xmlns:a16="http://schemas.microsoft.com/office/drawing/2014/main" id="{9F8B605D-484A-A2CF-CC17-DAE817CE94A0}"/>
              </a:ext>
            </a:extLst>
          </p:cNvPr>
          <p:cNvSpPr/>
          <p:nvPr/>
        </p:nvSpPr>
        <p:spPr>
          <a:xfrm>
            <a:off x="1" y="0"/>
            <a:ext cx="9144000" cy="420624"/>
          </a:xfrm>
          <a:prstGeom prst="rect">
            <a:avLst/>
          </a:prstGeom>
          <a:solidFill>
            <a:srgbClr val="A84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EC72E6-AD64-FC5B-9609-D942F3BA0DC6}"/>
              </a:ext>
            </a:extLst>
          </p:cNvPr>
          <p:cNvSpPr/>
          <p:nvPr/>
        </p:nvSpPr>
        <p:spPr>
          <a:xfrm>
            <a:off x="210313" y="67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Development Capacity</a:t>
            </a:r>
            <a:endParaRPr lang="en-US" sz="1400" dirty="0"/>
          </a:p>
        </p:txBody>
      </p:sp>
      <p:sp>
        <p:nvSpPr>
          <p:cNvPr id="8" name="Text 49">
            <a:extLst>
              <a:ext uri="{FF2B5EF4-FFF2-40B4-BE49-F238E27FC236}">
                <a16:creationId xmlns:a16="http://schemas.microsoft.com/office/drawing/2014/main" id="{E60B4C40-CCCF-576B-6CF2-A9918E9D9904}"/>
              </a:ext>
            </a:extLst>
          </p:cNvPr>
          <p:cNvSpPr/>
          <p:nvPr/>
        </p:nvSpPr>
        <p:spPr>
          <a:xfrm>
            <a:off x="155448" y="48844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Tahoe Regional Planning Agency (TRPA) · Lake Tahoe Regional Plan, 2026 Cumulative Accounting</a:t>
            </a:r>
            <a:endParaRPr lang="en-US" sz="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B78561-3149-DFC1-74D0-446F33950F64}"/>
              </a:ext>
            </a:extLst>
          </p:cNvPr>
          <p:cNvSpPr txBox="1"/>
          <p:nvPr/>
        </p:nvSpPr>
        <p:spPr>
          <a:xfrm>
            <a:off x="0" y="1206001"/>
            <a:ext cx="190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69AAB2"/>
                </a:solidFill>
              </a:rPr>
              <a:t>Residential Units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68098A-9B26-5D9E-AC81-5CBDFDE15F91}"/>
              </a:ext>
            </a:extLst>
          </p:cNvPr>
          <p:cNvSpPr txBox="1"/>
          <p:nvPr/>
        </p:nvSpPr>
        <p:spPr>
          <a:xfrm>
            <a:off x="-128024" y="1943985"/>
            <a:ext cx="2029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8E9A61"/>
                </a:solidFill>
              </a:rPr>
              <a:t>Tourist Accommodation Units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D3C91-1D85-B8DA-DB6C-7F7323FB32F1}"/>
              </a:ext>
            </a:extLst>
          </p:cNvPr>
          <p:cNvSpPr txBox="1"/>
          <p:nvPr/>
        </p:nvSpPr>
        <p:spPr>
          <a:xfrm>
            <a:off x="330489" y="3068699"/>
            <a:ext cx="1571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AE593F"/>
                </a:solidFill>
              </a:rPr>
              <a:t>Commercial Floor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B034B1-11A3-9317-E963-A9BA7A030A16}"/>
              </a:ext>
            </a:extLst>
          </p:cNvPr>
          <p:cNvSpPr txBox="1"/>
          <p:nvPr/>
        </p:nvSpPr>
        <p:spPr>
          <a:xfrm>
            <a:off x="6153575" y="4219030"/>
            <a:ext cx="225890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            Remaining Regional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0C8B7F-2EED-60F5-FCBE-7FB6D946F0FB}"/>
              </a:ext>
            </a:extLst>
          </p:cNvPr>
          <p:cNvSpPr txBox="1"/>
          <p:nvPr/>
        </p:nvSpPr>
        <p:spPr>
          <a:xfrm>
            <a:off x="5261213" y="4219030"/>
            <a:ext cx="12585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            Banked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34916C-A38C-CBD3-C1B8-108C7AE5AF50}"/>
              </a:ext>
            </a:extLst>
          </p:cNvPr>
          <p:cNvSpPr/>
          <p:nvPr/>
        </p:nvSpPr>
        <p:spPr>
          <a:xfrm>
            <a:off x="6408109" y="4258510"/>
            <a:ext cx="182880" cy="199505"/>
          </a:xfrm>
          <a:prstGeom prst="rect">
            <a:avLst/>
          </a:prstGeom>
          <a:solidFill>
            <a:srgbClr val="C8960C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DA041F-DBD1-20AD-B80F-EFD813289CFD}"/>
              </a:ext>
            </a:extLst>
          </p:cNvPr>
          <p:cNvSpPr txBox="1"/>
          <p:nvPr/>
        </p:nvSpPr>
        <p:spPr>
          <a:xfrm>
            <a:off x="4043265" y="4219030"/>
            <a:ext cx="14562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            Existing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397760-481B-D33D-C53F-65858CFEF102}"/>
              </a:ext>
            </a:extLst>
          </p:cNvPr>
          <p:cNvSpPr/>
          <p:nvPr/>
        </p:nvSpPr>
        <p:spPr>
          <a:xfrm>
            <a:off x="4286070" y="4271782"/>
            <a:ext cx="182880" cy="199505"/>
          </a:xfrm>
          <a:prstGeom prst="rect">
            <a:avLst/>
          </a:prstGeom>
          <a:solidFill>
            <a:srgbClr val="4D6E7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B7672-0019-59E3-6D38-2AC80FE8461E}"/>
              </a:ext>
            </a:extLst>
          </p:cNvPr>
          <p:cNvSpPr/>
          <p:nvPr/>
        </p:nvSpPr>
        <p:spPr>
          <a:xfrm>
            <a:off x="5466972" y="4271782"/>
            <a:ext cx="182880" cy="199505"/>
          </a:xfrm>
          <a:prstGeom prst="rect">
            <a:avLst/>
          </a:prstGeom>
          <a:solidFill>
            <a:srgbClr val="8E9A6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47F215-3FFD-2FA7-D612-C542DECA1AE2}"/>
              </a:ext>
            </a:extLst>
          </p:cNvPr>
          <p:cNvSpPr/>
          <p:nvPr/>
        </p:nvSpPr>
        <p:spPr>
          <a:xfrm>
            <a:off x="4222865" y="4233729"/>
            <a:ext cx="4189615" cy="276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3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979</Words>
  <Application>Microsoft Office PowerPoint</Application>
  <PresentationFormat>On-screen Show (16:9)</PresentationFormat>
  <Paragraphs>269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Kenneth Kasman</cp:lastModifiedBy>
  <cp:revision>3</cp:revision>
  <dcterms:created xsi:type="dcterms:W3CDTF">2026-04-08T17:31:54Z</dcterms:created>
  <dcterms:modified xsi:type="dcterms:W3CDTF">2026-05-01T05:29:05Z</dcterms:modified>
</cp:coreProperties>
</file>